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ice"/>
      <p:regular r:id="rId17"/>
    </p:embeddedFont>
    <p:embeddedFont>
      <p:font typeface="Alice"/>
      <p:regular r:id="rId18"/>
    </p:embeddedFont>
    <p:embeddedFont>
      <p:font typeface="Lora"/>
      <p:regular r:id="rId19"/>
    </p:embeddedFont>
    <p:embeddedFont>
      <p:font typeface="Lora"/>
      <p:regular r:id="rId20"/>
    </p:embeddedFont>
    <p:embeddedFont>
      <p:font typeface="Lora"/>
      <p:regular r:id="rId21"/>
    </p:embeddedFont>
    <p:embeddedFont>
      <p:font typeface="Lora"/>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9.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461974"/>
            <a:ext cx="5765006"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College Messaging App</a:t>
            </a:r>
            <a:endParaRPr lang="en-US" sz="4450" dirty="0"/>
          </a:p>
        </p:txBody>
      </p:sp>
      <p:sp>
        <p:nvSpPr>
          <p:cNvPr id="3" name="Text 1"/>
          <p:cNvSpPr/>
          <p:nvPr/>
        </p:nvSpPr>
        <p:spPr>
          <a:xfrm>
            <a:off x="793790" y="3261479"/>
            <a:ext cx="10084713" cy="566976"/>
          </a:xfrm>
          <a:prstGeom prst="rect">
            <a:avLst/>
          </a:prstGeom>
          <a:noFill/>
          <a:ln/>
        </p:spPr>
        <p:txBody>
          <a:bodyPr wrap="none" lIns="0" tIns="0" rIns="0" bIns="0" rtlCol="0" anchor="t"/>
          <a:lstStyle/>
          <a:p>
            <a:pPr algn="l" indent="0" marL="0">
              <a:lnSpc>
                <a:spcPts val="4450"/>
              </a:lnSpc>
              <a:buNone/>
            </a:pPr>
            <a:r>
              <a:rPr lang="en-US" sz="3550" dirty="0">
                <a:solidFill>
                  <a:srgbClr val="233E32"/>
                </a:solidFill>
                <a:latin typeface="Alice" pitchFamily="34" charset="0"/>
                <a:ea typeface="Alice" pitchFamily="34" charset="-122"/>
                <a:cs typeface="Alice" pitchFamily="34" charset="-120"/>
              </a:rPr>
              <a:t>Connecting Students, Faculty, and Administration</a:t>
            </a:r>
            <a:endParaRPr lang="en-US" sz="3550" dirty="0"/>
          </a:p>
        </p:txBody>
      </p:sp>
      <p:sp>
        <p:nvSpPr>
          <p:cNvPr id="4" name="Text 2"/>
          <p:cNvSpPr/>
          <p:nvPr/>
        </p:nvSpPr>
        <p:spPr>
          <a:xfrm>
            <a:off x="793790" y="4168616"/>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Your Name</a:t>
            </a:r>
            <a:endParaRPr lang="en-US" sz="1750" dirty="0"/>
          </a:p>
        </p:txBody>
      </p:sp>
      <p:sp>
        <p:nvSpPr>
          <p:cNvPr id="5" name="Text 3"/>
          <p:cNvSpPr/>
          <p:nvPr/>
        </p:nvSpPr>
        <p:spPr>
          <a:xfrm>
            <a:off x="793790" y="4786670"/>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Class / Course</a:t>
            </a:r>
            <a:endParaRPr lang="en-US" sz="1750" dirty="0"/>
          </a:p>
        </p:txBody>
      </p:sp>
      <p:sp>
        <p:nvSpPr>
          <p:cNvPr id="6" name="Text 4"/>
          <p:cNvSpPr/>
          <p:nvPr/>
        </p:nvSpPr>
        <p:spPr>
          <a:xfrm>
            <a:off x="793790" y="540472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Date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353264"/>
            <a:ext cx="6407944" cy="2648069"/>
          </a:xfrm>
          <a:prstGeom prst="roundRect">
            <a:avLst>
              <a:gd name="adj" fmla="val 1285"/>
            </a:avLst>
          </a:prstGeom>
          <a:solidFill>
            <a:srgbClr val="F0EDE6"/>
          </a:solidFill>
          <a:ln/>
        </p:spPr>
      </p:sp>
      <p:sp>
        <p:nvSpPr>
          <p:cNvPr id="3" name="Shape 1"/>
          <p:cNvSpPr/>
          <p:nvPr/>
        </p:nvSpPr>
        <p:spPr>
          <a:xfrm>
            <a:off x="1020604" y="1580078"/>
            <a:ext cx="680442" cy="680442"/>
          </a:xfrm>
          <a:prstGeom prst="roundRect">
            <a:avLst>
              <a:gd name="adj" fmla="val 13436980"/>
            </a:avLst>
          </a:prstGeom>
          <a:solidFill>
            <a:srgbClr val="1B5F39"/>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1767126"/>
            <a:ext cx="306110" cy="306110"/>
          </a:xfrm>
          <a:prstGeom prst="rect">
            <a:avLst/>
          </a:prstGeom>
        </p:spPr>
      </p:pic>
      <p:sp>
        <p:nvSpPr>
          <p:cNvPr id="5" name="Text 2"/>
          <p:cNvSpPr/>
          <p:nvPr/>
        </p:nvSpPr>
        <p:spPr>
          <a:xfrm>
            <a:off x="1020604" y="248733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Digital Platform</a:t>
            </a:r>
            <a:endParaRPr lang="en-US" sz="2650" dirty="0"/>
          </a:p>
        </p:txBody>
      </p:sp>
      <p:sp>
        <p:nvSpPr>
          <p:cNvPr id="6" name="Text 3"/>
          <p:cNvSpPr/>
          <p:nvPr/>
        </p:nvSpPr>
        <p:spPr>
          <a:xfrm>
            <a:off x="1020604" y="3048714"/>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A centralized digital space for all campus communication.</a:t>
            </a:r>
            <a:endParaRPr lang="en-US" sz="1750" dirty="0"/>
          </a:p>
        </p:txBody>
      </p:sp>
      <p:sp>
        <p:nvSpPr>
          <p:cNvPr id="7" name="Shape 4"/>
          <p:cNvSpPr/>
          <p:nvPr/>
        </p:nvSpPr>
        <p:spPr>
          <a:xfrm>
            <a:off x="7428548" y="1353264"/>
            <a:ext cx="6408063" cy="2648069"/>
          </a:xfrm>
          <a:prstGeom prst="roundRect">
            <a:avLst>
              <a:gd name="adj" fmla="val 1285"/>
            </a:avLst>
          </a:prstGeom>
          <a:solidFill>
            <a:srgbClr val="F0EDE6"/>
          </a:solidFill>
          <a:ln/>
        </p:spPr>
      </p:sp>
      <p:sp>
        <p:nvSpPr>
          <p:cNvPr id="8" name="Shape 5"/>
          <p:cNvSpPr/>
          <p:nvPr/>
        </p:nvSpPr>
        <p:spPr>
          <a:xfrm>
            <a:off x="7655362" y="1580078"/>
            <a:ext cx="680442" cy="680442"/>
          </a:xfrm>
          <a:prstGeom prst="roundRect">
            <a:avLst>
              <a:gd name="adj" fmla="val 13436980"/>
            </a:avLst>
          </a:prstGeom>
          <a:solidFill>
            <a:srgbClr val="1B5F39"/>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42528" y="1767126"/>
            <a:ext cx="306110" cy="306110"/>
          </a:xfrm>
          <a:prstGeom prst="rect">
            <a:avLst/>
          </a:prstGeom>
        </p:spPr>
      </p:pic>
      <p:sp>
        <p:nvSpPr>
          <p:cNvPr id="10" name="Text 6"/>
          <p:cNvSpPr/>
          <p:nvPr/>
        </p:nvSpPr>
        <p:spPr>
          <a:xfrm>
            <a:off x="7655362" y="248733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Key Users</a:t>
            </a:r>
            <a:endParaRPr lang="en-US" sz="2650" dirty="0"/>
          </a:p>
        </p:txBody>
      </p:sp>
      <p:sp>
        <p:nvSpPr>
          <p:cNvPr id="11" name="Text 7"/>
          <p:cNvSpPr/>
          <p:nvPr/>
        </p:nvSpPr>
        <p:spPr>
          <a:xfrm>
            <a:off x="7655362" y="3048714"/>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Connecting students, faculty, and administrative staff efficiently.</a:t>
            </a:r>
            <a:endParaRPr lang="en-US" sz="1750" dirty="0"/>
          </a:p>
        </p:txBody>
      </p:sp>
      <p:sp>
        <p:nvSpPr>
          <p:cNvPr id="12" name="Shape 8"/>
          <p:cNvSpPr/>
          <p:nvPr/>
        </p:nvSpPr>
        <p:spPr>
          <a:xfrm>
            <a:off x="793790" y="4228148"/>
            <a:ext cx="6407944" cy="2648069"/>
          </a:xfrm>
          <a:prstGeom prst="roundRect">
            <a:avLst>
              <a:gd name="adj" fmla="val 1285"/>
            </a:avLst>
          </a:prstGeom>
          <a:solidFill>
            <a:srgbClr val="F0EDE6"/>
          </a:solidFill>
          <a:ln/>
        </p:spPr>
      </p:sp>
      <p:sp>
        <p:nvSpPr>
          <p:cNvPr id="13" name="Shape 9"/>
          <p:cNvSpPr/>
          <p:nvPr/>
        </p:nvSpPr>
        <p:spPr>
          <a:xfrm>
            <a:off x="1020604" y="4454962"/>
            <a:ext cx="680442" cy="680442"/>
          </a:xfrm>
          <a:prstGeom prst="roundRect">
            <a:avLst>
              <a:gd name="adj" fmla="val 13436980"/>
            </a:avLst>
          </a:prstGeom>
          <a:solidFill>
            <a:srgbClr val="1B5F39"/>
          </a:solidFill>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7770" y="4642009"/>
            <a:ext cx="306110" cy="306110"/>
          </a:xfrm>
          <a:prstGeom prst="rect">
            <a:avLst/>
          </a:prstGeom>
        </p:spPr>
      </p:pic>
      <p:sp>
        <p:nvSpPr>
          <p:cNvPr id="15" name="Text 10"/>
          <p:cNvSpPr/>
          <p:nvPr/>
        </p:nvSpPr>
        <p:spPr>
          <a:xfrm>
            <a:off x="1020604" y="5362218"/>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Instant Sharing</a:t>
            </a:r>
            <a:endParaRPr lang="en-US" sz="2650" dirty="0"/>
          </a:p>
        </p:txBody>
      </p:sp>
      <p:sp>
        <p:nvSpPr>
          <p:cNvPr id="16" name="Text 11"/>
          <p:cNvSpPr/>
          <p:nvPr/>
        </p:nvSpPr>
        <p:spPr>
          <a:xfrm>
            <a:off x="1020604" y="5923598"/>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Enables real-time sharing of messages, updates, and vital information.</a:t>
            </a:r>
            <a:endParaRPr lang="en-US" sz="1750" dirty="0"/>
          </a:p>
        </p:txBody>
      </p:sp>
      <p:sp>
        <p:nvSpPr>
          <p:cNvPr id="17" name="Shape 12"/>
          <p:cNvSpPr/>
          <p:nvPr/>
        </p:nvSpPr>
        <p:spPr>
          <a:xfrm>
            <a:off x="7428548" y="4228148"/>
            <a:ext cx="6408063" cy="2648069"/>
          </a:xfrm>
          <a:prstGeom prst="roundRect">
            <a:avLst>
              <a:gd name="adj" fmla="val 1285"/>
            </a:avLst>
          </a:prstGeom>
          <a:solidFill>
            <a:srgbClr val="F0EDE6"/>
          </a:solidFill>
          <a:ln/>
        </p:spPr>
      </p:sp>
      <p:sp>
        <p:nvSpPr>
          <p:cNvPr id="18" name="Shape 13"/>
          <p:cNvSpPr/>
          <p:nvPr/>
        </p:nvSpPr>
        <p:spPr>
          <a:xfrm>
            <a:off x="7655362" y="4454962"/>
            <a:ext cx="680442" cy="680442"/>
          </a:xfrm>
          <a:prstGeom prst="roundRect">
            <a:avLst>
              <a:gd name="adj" fmla="val 13436980"/>
            </a:avLst>
          </a:prstGeom>
          <a:solidFill>
            <a:srgbClr val="1B5F39"/>
          </a:solidFill>
          <a:ln/>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42528" y="4642009"/>
            <a:ext cx="306110" cy="306110"/>
          </a:xfrm>
          <a:prstGeom prst="rect">
            <a:avLst/>
          </a:prstGeom>
        </p:spPr>
      </p:pic>
      <p:sp>
        <p:nvSpPr>
          <p:cNvPr id="20" name="Text 14"/>
          <p:cNvSpPr/>
          <p:nvPr/>
        </p:nvSpPr>
        <p:spPr>
          <a:xfrm>
            <a:off x="7655362" y="5362218"/>
            <a:ext cx="5354479"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Enhanced Campus Communication</a:t>
            </a:r>
            <a:endParaRPr lang="en-US" sz="2650" dirty="0"/>
          </a:p>
        </p:txBody>
      </p:sp>
      <p:sp>
        <p:nvSpPr>
          <p:cNvPr id="21" name="Text 15"/>
          <p:cNvSpPr/>
          <p:nvPr/>
        </p:nvSpPr>
        <p:spPr>
          <a:xfrm>
            <a:off x="7655362" y="5923598"/>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Streamlining interactions across the entire college community.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2199561"/>
            <a:ext cx="6407944" cy="1801773"/>
          </a:xfrm>
          <a:prstGeom prst="roundRect">
            <a:avLst>
              <a:gd name="adj" fmla="val 8120"/>
            </a:avLst>
          </a:prstGeom>
          <a:solidFill>
            <a:srgbClr val="FCFBF8"/>
          </a:solidFill>
          <a:ln w="30480">
            <a:solidFill>
              <a:srgbClr val="1B5F39"/>
            </a:solidFill>
            <a:prstDash val="solid"/>
          </a:ln>
        </p:spPr>
      </p:sp>
      <p:sp>
        <p:nvSpPr>
          <p:cNvPr id="3" name="Shape 1"/>
          <p:cNvSpPr/>
          <p:nvPr/>
        </p:nvSpPr>
        <p:spPr>
          <a:xfrm>
            <a:off x="763310" y="2199561"/>
            <a:ext cx="121920" cy="1801773"/>
          </a:xfrm>
          <a:prstGeom prst="roundRect">
            <a:avLst>
              <a:gd name="adj" fmla="val 27907"/>
            </a:avLst>
          </a:prstGeom>
          <a:solidFill>
            <a:srgbClr val="1B5F39"/>
          </a:solidFill>
          <a:ln/>
        </p:spPr>
      </p:sp>
      <p:sp>
        <p:nvSpPr>
          <p:cNvPr id="4" name="Text 2"/>
          <p:cNvSpPr/>
          <p:nvPr/>
        </p:nvSpPr>
        <p:spPr>
          <a:xfrm>
            <a:off x="1142524" y="245685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Fast &amp; Reliable</a:t>
            </a:r>
            <a:endParaRPr lang="en-US" sz="2650" dirty="0"/>
          </a:p>
        </p:txBody>
      </p:sp>
      <p:sp>
        <p:nvSpPr>
          <p:cNvPr id="5" name="Text 3"/>
          <p:cNvSpPr/>
          <p:nvPr/>
        </p:nvSpPr>
        <p:spPr>
          <a:xfrm>
            <a:off x="1142524" y="3018234"/>
            <a:ext cx="5801916"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Ensuring immediate and dependable delivery of crucial messages.</a:t>
            </a:r>
            <a:endParaRPr lang="en-US" sz="1750" dirty="0"/>
          </a:p>
        </p:txBody>
      </p:sp>
      <p:sp>
        <p:nvSpPr>
          <p:cNvPr id="6" name="Shape 4"/>
          <p:cNvSpPr/>
          <p:nvPr/>
        </p:nvSpPr>
        <p:spPr>
          <a:xfrm>
            <a:off x="7428548" y="2199561"/>
            <a:ext cx="6408063" cy="1801773"/>
          </a:xfrm>
          <a:prstGeom prst="roundRect">
            <a:avLst>
              <a:gd name="adj" fmla="val 8120"/>
            </a:avLst>
          </a:prstGeom>
          <a:solidFill>
            <a:srgbClr val="FCFBF8"/>
          </a:solidFill>
          <a:ln w="30480">
            <a:solidFill>
              <a:srgbClr val="1B5F39"/>
            </a:solidFill>
            <a:prstDash val="solid"/>
          </a:ln>
        </p:spPr>
      </p:sp>
      <p:sp>
        <p:nvSpPr>
          <p:cNvPr id="7" name="Shape 5"/>
          <p:cNvSpPr/>
          <p:nvPr/>
        </p:nvSpPr>
        <p:spPr>
          <a:xfrm>
            <a:off x="7398067" y="2199561"/>
            <a:ext cx="121920" cy="1801773"/>
          </a:xfrm>
          <a:prstGeom prst="roundRect">
            <a:avLst>
              <a:gd name="adj" fmla="val 27907"/>
            </a:avLst>
          </a:prstGeom>
          <a:solidFill>
            <a:srgbClr val="1B5F39"/>
          </a:solidFill>
          <a:ln/>
        </p:spPr>
      </p:sp>
      <p:sp>
        <p:nvSpPr>
          <p:cNvPr id="8" name="Text 6"/>
          <p:cNvSpPr/>
          <p:nvPr/>
        </p:nvSpPr>
        <p:spPr>
          <a:xfrm>
            <a:off x="7777282" y="245685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Reduce Dependency</a:t>
            </a:r>
            <a:endParaRPr lang="en-US" sz="2650" dirty="0"/>
          </a:p>
        </p:txBody>
      </p:sp>
      <p:sp>
        <p:nvSpPr>
          <p:cNvPr id="9" name="Text 7"/>
          <p:cNvSpPr/>
          <p:nvPr/>
        </p:nvSpPr>
        <p:spPr>
          <a:xfrm>
            <a:off x="7777282" y="3018234"/>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Moving beyond traditional notice boards and lengthy email chains.</a:t>
            </a:r>
            <a:endParaRPr lang="en-US" sz="1750" dirty="0"/>
          </a:p>
        </p:txBody>
      </p:sp>
      <p:sp>
        <p:nvSpPr>
          <p:cNvPr id="10" name="Shape 8"/>
          <p:cNvSpPr/>
          <p:nvPr/>
        </p:nvSpPr>
        <p:spPr>
          <a:xfrm>
            <a:off x="793790" y="4228148"/>
            <a:ext cx="6407944" cy="1801773"/>
          </a:xfrm>
          <a:prstGeom prst="roundRect">
            <a:avLst>
              <a:gd name="adj" fmla="val 8120"/>
            </a:avLst>
          </a:prstGeom>
          <a:solidFill>
            <a:srgbClr val="FCFBF8"/>
          </a:solidFill>
          <a:ln w="30480">
            <a:solidFill>
              <a:srgbClr val="1B5F39"/>
            </a:solidFill>
            <a:prstDash val="solid"/>
          </a:ln>
        </p:spPr>
      </p:sp>
      <p:sp>
        <p:nvSpPr>
          <p:cNvPr id="11" name="Shape 9"/>
          <p:cNvSpPr/>
          <p:nvPr/>
        </p:nvSpPr>
        <p:spPr>
          <a:xfrm>
            <a:off x="763310" y="4228148"/>
            <a:ext cx="121920" cy="1801773"/>
          </a:xfrm>
          <a:prstGeom prst="roundRect">
            <a:avLst>
              <a:gd name="adj" fmla="val 27907"/>
            </a:avLst>
          </a:prstGeom>
          <a:solidFill>
            <a:srgbClr val="1B5F39"/>
          </a:solidFill>
          <a:ln/>
        </p:spPr>
      </p:sp>
      <p:sp>
        <p:nvSpPr>
          <p:cNvPr id="12" name="Text 10"/>
          <p:cNvSpPr/>
          <p:nvPr/>
        </p:nvSpPr>
        <p:spPr>
          <a:xfrm>
            <a:off x="1142524" y="4485442"/>
            <a:ext cx="3454003"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Real-Time Information</a:t>
            </a:r>
            <a:endParaRPr lang="en-US" sz="2650" dirty="0"/>
          </a:p>
        </p:txBody>
      </p:sp>
      <p:sp>
        <p:nvSpPr>
          <p:cNvPr id="13" name="Text 11"/>
          <p:cNvSpPr/>
          <p:nvPr/>
        </p:nvSpPr>
        <p:spPr>
          <a:xfrm>
            <a:off x="1142524" y="5046821"/>
            <a:ext cx="5801916"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Keeping every member of the campus community constantly informed.</a:t>
            </a:r>
            <a:endParaRPr lang="en-US" sz="1750" dirty="0"/>
          </a:p>
        </p:txBody>
      </p:sp>
      <p:sp>
        <p:nvSpPr>
          <p:cNvPr id="14" name="Shape 12"/>
          <p:cNvSpPr/>
          <p:nvPr/>
        </p:nvSpPr>
        <p:spPr>
          <a:xfrm>
            <a:off x="7428548" y="4228148"/>
            <a:ext cx="6408063" cy="1801773"/>
          </a:xfrm>
          <a:prstGeom prst="roundRect">
            <a:avLst>
              <a:gd name="adj" fmla="val 8120"/>
            </a:avLst>
          </a:prstGeom>
          <a:solidFill>
            <a:srgbClr val="FCFBF8"/>
          </a:solidFill>
          <a:ln w="30480">
            <a:solidFill>
              <a:srgbClr val="1B5F39"/>
            </a:solidFill>
            <a:prstDash val="solid"/>
          </a:ln>
        </p:spPr>
      </p:sp>
      <p:sp>
        <p:nvSpPr>
          <p:cNvPr id="15" name="Shape 13"/>
          <p:cNvSpPr/>
          <p:nvPr/>
        </p:nvSpPr>
        <p:spPr>
          <a:xfrm>
            <a:off x="7398067" y="4228148"/>
            <a:ext cx="121920" cy="1801773"/>
          </a:xfrm>
          <a:prstGeom prst="roundRect">
            <a:avLst>
              <a:gd name="adj" fmla="val 27907"/>
            </a:avLst>
          </a:prstGeom>
          <a:solidFill>
            <a:srgbClr val="1B5F39"/>
          </a:solidFill>
          <a:ln/>
        </p:spPr>
      </p:sp>
      <p:sp>
        <p:nvSpPr>
          <p:cNvPr id="16" name="Text 14"/>
          <p:cNvSpPr/>
          <p:nvPr/>
        </p:nvSpPr>
        <p:spPr>
          <a:xfrm>
            <a:off x="7777282" y="4485442"/>
            <a:ext cx="4275892"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Academic &amp; Admin Support</a:t>
            </a:r>
            <a:endParaRPr lang="en-US" sz="2650" dirty="0"/>
          </a:p>
        </p:txBody>
      </p:sp>
      <p:sp>
        <p:nvSpPr>
          <p:cNvPr id="17" name="Text 15"/>
          <p:cNvSpPr/>
          <p:nvPr/>
        </p:nvSpPr>
        <p:spPr>
          <a:xfrm>
            <a:off x="7777282" y="5046821"/>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Facilitating seamless communication for both learning and management.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09136" y="557213"/>
            <a:ext cx="5065633" cy="633174"/>
          </a:xfrm>
          <a:prstGeom prst="rect">
            <a:avLst/>
          </a:prstGeom>
          <a:noFill/>
          <a:ln/>
        </p:spPr>
        <p:txBody>
          <a:bodyPr wrap="none" lIns="0" tIns="0" rIns="0" bIns="0" rtlCol="0" anchor="t"/>
          <a:lstStyle/>
          <a:p>
            <a:pPr algn="l" indent="0" marL="0">
              <a:lnSpc>
                <a:spcPts val="4950"/>
              </a:lnSpc>
              <a:buNone/>
            </a:pPr>
            <a:r>
              <a:rPr lang="en-US" sz="3950" dirty="0">
                <a:solidFill>
                  <a:srgbClr val="233E32"/>
                </a:solidFill>
                <a:latin typeface="Alice" pitchFamily="34" charset="0"/>
                <a:ea typeface="Alice" pitchFamily="34" charset="-122"/>
                <a:cs typeface="Alice" pitchFamily="34" charset="-120"/>
              </a:rPr>
              <a:t>Core Functionalities</a:t>
            </a:r>
            <a:endParaRPr lang="en-US" sz="3950" dirty="0"/>
          </a:p>
        </p:txBody>
      </p:sp>
      <p:pic>
        <p:nvPicPr>
          <p:cNvPr id="3" name="Image 0" descr="preencoded.png">    </p:cNvPr>
          <p:cNvPicPr>
            <a:picLocks noChangeAspect="1"/>
          </p:cNvPicPr>
          <p:nvPr/>
        </p:nvPicPr>
        <p:blipFill>
          <a:blip r:embed="rId1"/>
          <a:stretch>
            <a:fillRect/>
          </a:stretch>
        </p:blipFill>
        <p:spPr>
          <a:xfrm>
            <a:off x="709136" y="1595557"/>
            <a:ext cx="1013103" cy="1215747"/>
          </a:xfrm>
          <a:prstGeom prst="rect">
            <a:avLst/>
          </a:prstGeom>
        </p:spPr>
      </p:pic>
      <p:sp>
        <p:nvSpPr>
          <p:cNvPr id="4" name="Text 1"/>
          <p:cNvSpPr/>
          <p:nvPr/>
        </p:nvSpPr>
        <p:spPr>
          <a:xfrm>
            <a:off x="1924764" y="1798082"/>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2C2821"/>
                </a:solidFill>
                <a:latin typeface="Alice" pitchFamily="34" charset="0"/>
                <a:ea typeface="Alice" pitchFamily="34" charset="-122"/>
                <a:cs typeface="Alice" pitchFamily="34" charset="-120"/>
              </a:rPr>
              <a:t>Instant Messaging</a:t>
            </a:r>
            <a:endParaRPr lang="en-US" sz="1950" dirty="0"/>
          </a:p>
        </p:txBody>
      </p:sp>
      <p:sp>
        <p:nvSpPr>
          <p:cNvPr id="5" name="Text 2"/>
          <p:cNvSpPr/>
          <p:nvPr/>
        </p:nvSpPr>
        <p:spPr>
          <a:xfrm>
            <a:off x="1924764" y="2236113"/>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2C2821"/>
                </a:solidFill>
                <a:latin typeface="Lora" pitchFamily="34" charset="0"/>
                <a:ea typeface="Lora" pitchFamily="34" charset="-122"/>
                <a:cs typeface="Lora" pitchFamily="34" charset="-120"/>
              </a:rPr>
              <a:t>One-to-one and group chats for quick discussions.</a:t>
            </a:r>
            <a:endParaRPr lang="en-US" sz="1550" dirty="0"/>
          </a:p>
        </p:txBody>
      </p:sp>
      <p:pic>
        <p:nvPicPr>
          <p:cNvPr id="6" name="Image 1" descr="preencoded.png">    </p:cNvPr>
          <p:cNvPicPr>
            <a:picLocks noChangeAspect="1"/>
          </p:cNvPicPr>
          <p:nvPr/>
        </p:nvPicPr>
        <p:blipFill>
          <a:blip r:embed="rId2"/>
          <a:stretch>
            <a:fillRect/>
          </a:stretch>
        </p:blipFill>
        <p:spPr>
          <a:xfrm>
            <a:off x="709136" y="2811304"/>
            <a:ext cx="1013103" cy="1215747"/>
          </a:xfrm>
          <a:prstGeom prst="rect">
            <a:avLst/>
          </a:prstGeom>
        </p:spPr>
      </p:pic>
      <p:sp>
        <p:nvSpPr>
          <p:cNvPr id="7" name="Text 3"/>
          <p:cNvSpPr/>
          <p:nvPr/>
        </p:nvSpPr>
        <p:spPr>
          <a:xfrm>
            <a:off x="1924764" y="3013829"/>
            <a:ext cx="3665339" cy="316468"/>
          </a:xfrm>
          <a:prstGeom prst="rect">
            <a:avLst/>
          </a:prstGeom>
          <a:noFill/>
          <a:ln/>
        </p:spPr>
        <p:txBody>
          <a:bodyPr wrap="none" lIns="0" tIns="0" rIns="0" bIns="0" rtlCol="0" anchor="t"/>
          <a:lstStyle/>
          <a:p>
            <a:pPr algn="l" indent="0" marL="0">
              <a:lnSpc>
                <a:spcPts val="2450"/>
              </a:lnSpc>
              <a:buNone/>
            </a:pPr>
            <a:r>
              <a:rPr lang="en-US" sz="1950" dirty="0">
                <a:solidFill>
                  <a:srgbClr val="2C2821"/>
                </a:solidFill>
                <a:latin typeface="Alice" pitchFamily="34" charset="0"/>
                <a:ea typeface="Alice" pitchFamily="34" charset="-122"/>
                <a:cs typeface="Alice" pitchFamily="34" charset="-120"/>
              </a:rPr>
              <a:t>Announcements &amp; Notifications</a:t>
            </a:r>
            <a:endParaRPr lang="en-US" sz="1950" dirty="0"/>
          </a:p>
        </p:txBody>
      </p:sp>
      <p:sp>
        <p:nvSpPr>
          <p:cNvPr id="8" name="Text 4"/>
          <p:cNvSpPr/>
          <p:nvPr/>
        </p:nvSpPr>
        <p:spPr>
          <a:xfrm>
            <a:off x="1924764" y="3451860"/>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2C2821"/>
                </a:solidFill>
                <a:latin typeface="Lora" pitchFamily="34" charset="0"/>
                <a:ea typeface="Lora" pitchFamily="34" charset="-122"/>
                <a:cs typeface="Lora" pitchFamily="34" charset="-120"/>
              </a:rPr>
              <a:t>Timely alerts for important updates and events.</a:t>
            </a:r>
            <a:endParaRPr lang="en-US" sz="1550" dirty="0"/>
          </a:p>
        </p:txBody>
      </p:sp>
      <p:pic>
        <p:nvPicPr>
          <p:cNvPr id="9" name="Image 2" descr="preencoded.png">    </p:cNvPr>
          <p:cNvPicPr>
            <a:picLocks noChangeAspect="1"/>
          </p:cNvPicPr>
          <p:nvPr/>
        </p:nvPicPr>
        <p:blipFill>
          <a:blip r:embed="rId3"/>
          <a:stretch>
            <a:fillRect/>
          </a:stretch>
        </p:blipFill>
        <p:spPr>
          <a:xfrm>
            <a:off x="709136" y="4027051"/>
            <a:ext cx="1013103" cy="1215747"/>
          </a:xfrm>
          <a:prstGeom prst="rect">
            <a:avLst/>
          </a:prstGeom>
        </p:spPr>
      </p:pic>
      <p:sp>
        <p:nvSpPr>
          <p:cNvPr id="10" name="Text 5"/>
          <p:cNvSpPr/>
          <p:nvPr/>
        </p:nvSpPr>
        <p:spPr>
          <a:xfrm>
            <a:off x="1924764" y="4229576"/>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2C2821"/>
                </a:solidFill>
                <a:latin typeface="Alice" pitchFamily="34" charset="0"/>
                <a:ea typeface="Alice" pitchFamily="34" charset="-122"/>
                <a:cs typeface="Alice" pitchFamily="34" charset="-120"/>
              </a:rPr>
              <a:t>File Sharing</a:t>
            </a:r>
            <a:endParaRPr lang="en-US" sz="1950" dirty="0"/>
          </a:p>
        </p:txBody>
      </p:sp>
      <p:sp>
        <p:nvSpPr>
          <p:cNvPr id="11" name="Text 6"/>
          <p:cNvSpPr/>
          <p:nvPr/>
        </p:nvSpPr>
        <p:spPr>
          <a:xfrm>
            <a:off x="1924764" y="4667607"/>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2C2821"/>
                </a:solidFill>
                <a:latin typeface="Lora" pitchFamily="34" charset="0"/>
                <a:ea typeface="Lora" pitchFamily="34" charset="-122"/>
                <a:cs typeface="Lora" pitchFamily="34" charset="-120"/>
              </a:rPr>
              <a:t>Easy distribution of notes, PDFs, and assignment materials.</a:t>
            </a:r>
            <a:endParaRPr lang="en-US" sz="1550" dirty="0"/>
          </a:p>
        </p:txBody>
      </p:sp>
      <p:pic>
        <p:nvPicPr>
          <p:cNvPr id="12" name="Image 3" descr="preencoded.png">    </p:cNvPr>
          <p:cNvPicPr>
            <a:picLocks noChangeAspect="1"/>
          </p:cNvPicPr>
          <p:nvPr/>
        </p:nvPicPr>
        <p:blipFill>
          <a:blip r:embed="rId4"/>
          <a:stretch>
            <a:fillRect/>
          </a:stretch>
        </p:blipFill>
        <p:spPr>
          <a:xfrm>
            <a:off x="709136" y="5242798"/>
            <a:ext cx="1013103" cy="1215747"/>
          </a:xfrm>
          <a:prstGeom prst="rect">
            <a:avLst/>
          </a:prstGeom>
        </p:spPr>
      </p:pic>
      <p:sp>
        <p:nvSpPr>
          <p:cNvPr id="13" name="Text 7"/>
          <p:cNvSpPr/>
          <p:nvPr/>
        </p:nvSpPr>
        <p:spPr>
          <a:xfrm>
            <a:off x="1924764" y="5445323"/>
            <a:ext cx="3123128" cy="316468"/>
          </a:xfrm>
          <a:prstGeom prst="rect">
            <a:avLst/>
          </a:prstGeom>
          <a:noFill/>
          <a:ln/>
        </p:spPr>
        <p:txBody>
          <a:bodyPr wrap="none" lIns="0" tIns="0" rIns="0" bIns="0" rtlCol="0" anchor="t"/>
          <a:lstStyle/>
          <a:p>
            <a:pPr algn="l" indent="0" marL="0">
              <a:lnSpc>
                <a:spcPts val="2450"/>
              </a:lnSpc>
              <a:buNone/>
            </a:pPr>
            <a:r>
              <a:rPr lang="en-US" sz="1950" dirty="0">
                <a:solidFill>
                  <a:srgbClr val="2C2821"/>
                </a:solidFill>
                <a:latin typeface="Alice" pitchFamily="34" charset="0"/>
                <a:ea typeface="Alice" pitchFamily="34" charset="-122"/>
                <a:cs typeface="Alice" pitchFamily="34" charset="-120"/>
              </a:rPr>
              <a:t>Event &amp; Timetable Updates</a:t>
            </a:r>
            <a:endParaRPr lang="en-US" sz="1950" dirty="0"/>
          </a:p>
        </p:txBody>
      </p:sp>
      <p:sp>
        <p:nvSpPr>
          <p:cNvPr id="14" name="Text 8"/>
          <p:cNvSpPr/>
          <p:nvPr/>
        </p:nvSpPr>
        <p:spPr>
          <a:xfrm>
            <a:off x="1924764" y="5883354"/>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2C2821"/>
                </a:solidFill>
                <a:latin typeface="Lora" pitchFamily="34" charset="0"/>
                <a:ea typeface="Lora" pitchFamily="34" charset="-122"/>
                <a:cs typeface="Lora" pitchFamily="34" charset="-120"/>
              </a:rPr>
              <a:t>Centralized access to academic schedules and campus activities.</a:t>
            </a:r>
            <a:endParaRPr lang="en-US" sz="1550" dirty="0"/>
          </a:p>
        </p:txBody>
      </p:sp>
      <p:pic>
        <p:nvPicPr>
          <p:cNvPr id="15" name="Image 4" descr="preencoded.png">    </p:cNvPr>
          <p:cNvPicPr>
            <a:picLocks noChangeAspect="1"/>
          </p:cNvPicPr>
          <p:nvPr/>
        </p:nvPicPr>
        <p:blipFill>
          <a:blip r:embed="rId5"/>
          <a:stretch>
            <a:fillRect/>
          </a:stretch>
        </p:blipFill>
        <p:spPr>
          <a:xfrm>
            <a:off x="709136" y="6458545"/>
            <a:ext cx="1013103" cy="1215747"/>
          </a:xfrm>
          <a:prstGeom prst="rect">
            <a:avLst/>
          </a:prstGeom>
        </p:spPr>
      </p:pic>
      <p:sp>
        <p:nvSpPr>
          <p:cNvPr id="16" name="Text 9"/>
          <p:cNvSpPr/>
          <p:nvPr/>
        </p:nvSpPr>
        <p:spPr>
          <a:xfrm>
            <a:off x="1924764" y="6661071"/>
            <a:ext cx="2532817" cy="316468"/>
          </a:xfrm>
          <a:prstGeom prst="rect">
            <a:avLst/>
          </a:prstGeom>
          <a:noFill/>
          <a:ln/>
        </p:spPr>
        <p:txBody>
          <a:bodyPr wrap="none" lIns="0" tIns="0" rIns="0" bIns="0" rtlCol="0" anchor="t"/>
          <a:lstStyle/>
          <a:p>
            <a:pPr algn="l" indent="0" marL="0">
              <a:lnSpc>
                <a:spcPts val="2450"/>
              </a:lnSpc>
              <a:buNone/>
            </a:pPr>
            <a:r>
              <a:rPr lang="en-US" sz="1950" dirty="0">
                <a:solidFill>
                  <a:srgbClr val="2C2821"/>
                </a:solidFill>
                <a:latin typeface="Alice" pitchFamily="34" charset="0"/>
                <a:ea typeface="Alice" pitchFamily="34" charset="-122"/>
                <a:cs typeface="Alice" pitchFamily="34" charset="-120"/>
              </a:rPr>
              <a:t>Secure Login</a:t>
            </a:r>
            <a:endParaRPr lang="en-US" sz="1950" dirty="0"/>
          </a:p>
        </p:txBody>
      </p:sp>
      <p:sp>
        <p:nvSpPr>
          <p:cNvPr id="17" name="Text 10"/>
          <p:cNvSpPr/>
          <p:nvPr/>
        </p:nvSpPr>
        <p:spPr>
          <a:xfrm>
            <a:off x="1924764" y="7099102"/>
            <a:ext cx="11996499" cy="324207"/>
          </a:xfrm>
          <a:prstGeom prst="rect">
            <a:avLst/>
          </a:prstGeom>
          <a:noFill/>
          <a:ln/>
        </p:spPr>
        <p:txBody>
          <a:bodyPr wrap="none" lIns="0" tIns="0" rIns="0" bIns="0" rtlCol="0" anchor="t"/>
          <a:lstStyle/>
          <a:p>
            <a:pPr algn="l" indent="0" marL="0">
              <a:lnSpc>
                <a:spcPts val="2550"/>
              </a:lnSpc>
              <a:buNone/>
            </a:pPr>
            <a:r>
              <a:rPr lang="en-US" sz="1550" dirty="0">
                <a:solidFill>
                  <a:srgbClr val="2C2821"/>
                </a:solidFill>
                <a:latin typeface="Lora" pitchFamily="34" charset="0"/>
                <a:ea typeface="Lora" pitchFamily="34" charset="-122"/>
                <a:cs typeface="Lora" pitchFamily="34" charset="-120"/>
              </a:rPr>
              <a:t>Protected access ensuring privacy and data integrity for all users.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252180"/>
            <a:ext cx="6634758"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Seamless Interaction Flow</a:t>
            </a:r>
            <a:endParaRPr lang="en-US" sz="4450" dirty="0"/>
          </a:p>
        </p:txBody>
      </p:sp>
      <p:sp>
        <p:nvSpPr>
          <p:cNvPr id="3" name="Text 1"/>
          <p:cNvSpPr/>
          <p:nvPr/>
        </p:nvSpPr>
        <p:spPr>
          <a:xfrm>
            <a:off x="793790" y="241458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Alice Light" pitchFamily="34" charset="0"/>
                <a:ea typeface="Alice Light" pitchFamily="34" charset="-122"/>
                <a:cs typeface="Alice Light" pitchFamily="34" charset="-120"/>
              </a:rPr>
              <a:t>01</a:t>
            </a:r>
            <a:endParaRPr lang="en-US" sz="1750" dirty="0"/>
          </a:p>
        </p:txBody>
      </p:sp>
      <p:sp>
        <p:nvSpPr>
          <p:cNvPr id="4" name="Shape 2"/>
          <p:cNvSpPr/>
          <p:nvPr/>
        </p:nvSpPr>
        <p:spPr>
          <a:xfrm>
            <a:off x="793790" y="2769632"/>
            <a:ext cx="4196358" cy="30480"/>
          </a:xfrm>
          <a:prstGeom prst="rect">
            <a:avLst/>
          </a:prstGeom>
          <a:solidFill>
            <a:srgbClr val="1B5F39"/>
          </a:solidFill>
          <a:ln/>
        </p:spPr>
      </p:sp>
      <p:sp>
        <p:nvSpPr>
          <p:cNvPr id="5" name="Text 3"/>
          <p:cNvSpPr/>
          <p:nvPr/>
        </p:nvSpPr>
        <p:spPr>
          <a:xfrm>
            <a:off x="793790" y="294393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User Authentication</a:t>
            </a:r>
            <a:endParaRPr lang="en-US" sz="2650" dirty="0"/>
          </a:p>
        </p:txBody>
      </p:sp>
      <p:sp>
        <p:nvSpPr>
          <p:cNvPr id="6" name="Text 4"/>
          <p:cNvSpPr/>
          <p:nvPr/>
        </p:nvSpPr>
        <p:spPr>
          <a:xfrm>
            <a:off x="793790" y="3505319"/>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Students and staff log in securely using their college ID credentials.</a:t>
            </a:r>
            <a:endParaRPr lang="en-US" sz="1750" dirty="0"/>
          </a:p>
        </p:txBody>
      </p:sp>
      <p:sp>
        <p:nvSpPr>
          <p:cNvPr id="7" name="Text 5"/>
          <p:cNvSpPr/>
          <p:nvPr/>
        </p:nvSpPr>
        <p:spPr>
          <a:xfrm>
            <a:off x="5216962" y="241458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Alice Light" pitchFamily="34" charset="0"/>
                <a:ea typeface="Alice Light" pitchFamily="34" charset="-122"/>
                <a:cs typeface="Alice Light" pitchFamily="34" charset="-120"/>
              </a:rPr>
              <a:t>02</a:t>
            </a:r>
            <a:endParaRPr lang="en-US" sz="1750" dirty="0"/>
          </a:p>
        </p:txBody>
      </p:sp>
      <p:sp>
        <p:nvSpPr>
          <p:cNvPr id="8" name="Shape 6"/>
          <p:cNvSpPr/>
          <p:nvPr/>
        </p:nvSpPr>
        <p:spPr>
          <a:xfrm>
            <a:off x="5216962" y="2769632"/>
            <a:ext cx="4196358" cy="30480"/>
          </a:xfrm>
          <a:prstGeom prst="rect">
            <a:avLst/>
          </a:prstGeom>
          <a:solidFill>
            <a:srgbClr val="1B5F39"/>
          </a:solidFill>
          <a:ln/>
        </p:spPr>
      </p:sp>
      <p:sp>
        <p:nvSpPr>
          <p:cNvPr id="9" name="Text 7"/>
          <p:cNvSpPr/>
          <p:nvPr/>
        </p:nvSpPr>
        <p:spPr>
          <a:xfrm>
            <a:off x="5216962" y="294393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Group Integration</a:t>
            </a:r>
            <a:endParaRPr lang="en-US" sz="2650" dirty="0"/>
          </a:p>
        </p:txBody>
      </p:sp>
      <p:sp>
        <p:nvSpPr>
          <p:cNvPr id="10" name="Text 8"/>
          <p:cNvSpPr/>
          <p:nvPr/>
        </p:nvSpPr>
        <p:spPr>
          <a:xfrm>
            <a:off x="5216962" y="3505319"/>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Students join relevant class or department-specific communication groups.</a:t>
            </a:r>
            <a:endParaRPr lang="en-US" sz="1750" dirty="0"/>
          </a:p>
        </p:txBody>
      </p:sp>
      <p:sp>
        <p:nvSpPr>
          <p:cNvPr id="11" name="Text 9"/>
          <p:cNvSpPr/>
          <p:nvPr/>
        </p:nvSpPr>
        <p:spPr>
          <a:xfrm>
            <a:off x="9640133" y="241458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Alice Light" pitchFamily="34" charset="0"/>
                <a:ea typeface="Alice Light" pitchFamily="34" charset="-122"/>
                <a:cs typeface="Alice Light" pitchFamily="34" charset="-120"/>
              </a:rPr>
              <a:t>03</a:t>
            </a:r>
            <a:endParaRPr lang="en-US" sz="1750" dirty="0"/>
          </a:p>
        </p:txBody>
      </p:sp>
      <p:sp>
        <p:nvSpPr>
          <p:cNvPr id="12" name="Shape 10"/>
          <p:cNvSpPr/>
          <p:nvPr/>
        </p:nvSpPr>
        <p:spPr>
          <a:xfrm>
            <a:off x="9640133" y="2769632"/>
            <a:ext cx="4196358" cy="30480"/>
          </a:xfrm>
          <a:prstGeom prst="rect">
            <a:avLst/>
          </a:prstGeom>
          <a:solidFill>
            <a:srgbClr val="1B5F39"/>
          </a:solidFill>
          <a:ln/>
        </p:spPr>
      </p:sp>
      <p:sp>
        <p:nvSpPr>
          <p:cNvPr id="13" name="Text 11"/>
          <p:cNvSpPr/>
          <p:nvPr/>
        </p:nvSpPr>
        <p:spPr>
          <a:xfrm>
            <a:off x="9640133" y="2943939"/>
            <a:ext cx="3642479"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Faculty Communication</a:t>
            </a:r>
            <a:endParaRPr lang="en-US" sz="2650" dirty="0"/>
          </a:p>
        </p:txBody>
      </p:sp>
      <p:sp>
        <p:nvSpPr>
          <p:cNvPr id="14" name="Text 12"/>
          <p:cNvSpPr/>
          <p:nvPr/>
        </p:nvSpPr>
        <p:spPr>
          <a:xfrm>
            <a:off x="9640133" y="3505319"/>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Teachers disseminate messages, course notes, and important announcements.</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Alice Light" pitchFamily="34" charset="0"/>
                <a:ea typeface="Alice Light" pitchFamily="34" charset="-122"/>
                <a:cs typeface="Alice Light" pitchFamily="34" charset="-120"/>
              </a:rPr>
              <a:t>04</a:t>
            </a:r>
            <a:endParaRPr lang="en-US" sz="1750" dirty="0"/>
          </a:p>
        </p:txBody>
      </p:sp>
      <p:sp>
        <p:nvSpPr>
          <p:cNvPr id="16" name="Shape 14"/>
          <p:cNvSpPr/>
          <p:nvPr/>
        </p:nvSpPr>
        <p:spPr>
          <a:xfrm>
            <a:off x="793790" y="5345906"/>
            <a:ext cx="6407944" cy="30480"/>
          </a:xfrm>
          <a:prstGeom prst="rect">
            <a:avLst/>
          </a:prstGeom>
          <a:solidFill>
            <a:srgbClr val="1B5F39"/>
          </a:solidFill>
          <a:ln/>
        </p:spPr>
      </p:sp>
      <p:sp>
        <p:nvSpPr>
          <p:cNvPr id="17" name="Text 15"/>
          <p:cNvSpPr/>
          <p:nvPr/>
        </p:nvSpPr>
        <p:spPr>
          <a:xfrm>
            <a:off x="793790" y="5520214"/>
            <a:ext cx="3615928"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Administrative Updates</a:t>
            </a:r>
            <a:endParaRPr lang="en-US" sz="2650" dirty="0"/>
          </a:p>
        </p:txBody>
      </p:sp>
      <p:sp>
        <p:nvSpPr>
          <p:cNvPr id="18" name="Text 16"/>
          <p:cNvSpPr/>
          <p:nvPr/>
        </p:nvSpPr>
        <p:spPr>
          <a:xfrm>
            <a:off x="793790" y="6081593"/>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Administrators broadcast official college-wide news and updates.</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Alice Light" pitchFamily="34" charset="0"/>
                <a:ea typeface="Alice Light" pitchFamily="34" charset="-122"/>
                <a:cs typeface="Alice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1B5F39"/>
          </a:solidFill>
          <a:ln/>
        </p:spPr>
      </p:sp>
      <p:sp>
        <p:nvSpPr>
          <p:cNvPr id="21" name="Text 19"/>
          <p:cNvSpPr/>
          <p:nvPr/>
        </p:nvSpPr>
        <p:spPr>
          <a:xfrm>
            <a:off x="7428548" y="5520214"/>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C2821"/>
                </a:solidFill>
                <a:latin typeface="Alice" pitchFamily="34" charset="0"/>
                <a:ea typeface="Alice" pitchFamily="34" charset="-122"/>
                <a:cs typeface="Alice" pitchFamily="34" charset="-120"/>
              </a:rPr>
              <a:t>Instant Notifications</a:t>
            </a:r>
            <a:endParaRPr lang="en-US" sz="2650" dirty="0"/>
          </a:p>
        </p:txBody>
      </p:sp>
      <p:sp>
        <p:nvSpPr>
          <p:cNvPr id="22" name="Text 20"/>
          <p:cNvSpPr/>
          <p:nvPr/>
        </p:nvSpPr>
        <p:spPr>
          <a:xfrm>
            <a:off x="7428548" y="6081593"/>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Users receive immediate alerts for new messages and information.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280642"/>
            <a:ext cx="8980408"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Key Advantages of a Messaging App</a:t>
            </a:r>
            <a:endParaRPr lang="en-US" sz="4450" dirty="0"/>
          </a:p>
        </p:txBody>
      </p:sp>
      <p:sp>
        <p:nvSpPr>
          <p:cNvPr id="3" name="Text 1"/>
          <p:cNvSpPr/>
          <p:nvPr/>
        </p:nvSpPr>
        <p:spPr>
          <a:xfrm>
            <a:off x="793790" y="3533656"/>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Fast and Easy Communication: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Streamlined interactions for rapid information exchange.</a:t>
            </a:r>
            <a:endParaRPr lang="en-US" sz="1750" dirty="0"/>
          </a:p>
        </p:txBody>
      </p:sp>
      <p:sp>
        <p:nvSpPr>
          <p:cNvPr id="4" name="Text 2"/>
          <p:cNvSpPr/>
          <p:nvPr/>
        </p:nvSpPr>
        <p:spPr>
          <a:xfrm>
            <a:off x="793790" y="4338757"/>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Time and Paper Savings: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Reduces administrative overhead and promotes sustainability.</a:t>
            </a:r>
            <a:endParaRPr lang="en-US" sz="1750" dirty="0"/>
          </a:p>
        </p:txBody>
      </p:sp>
      <p:sp>
        <p:nvSpPr>
          <p:cNvPr id="5" name="Text 3"/>
          <p:cNvSpPr/>
          <p:nvPr/>
        </p:nvSpPr>
        <p:spPr>
          <a:xfrm>
            <a:off x="793790" y="5143857"/>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Centralized Information Platform:</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A single source of truth for all campus-related updates.</a:t>
            </a:r>
            <a:endParaRPr lang="en-US" sz="1750" dirty="0"/>
          </a:p>
        </p:txBody>
      </p:sp>
      <p:sp>
        <p:nvSpPr>
          <p:cNvPr id="6" name="Text 4"/>
          <p:cNvSpPr/>
          <p:nvPr/>
        </p:nvSpPr>
        <p:spPr>
          <a:xfrm>
            <a:off x="7599521" y="3533656"/>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Improved Student–Teacher Interaction: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Fosters better engagement and accessibility.</a:t>
            </a:r>
            <a:endParaRPr lang="en-US" sz="1750" dirty="0"/>
          </a:p>
        </p:txBody>
      </p:sp>
      <p:sp>
        <p:nvSpPr>
          <p:cNvPr id="7" name="Text 5"/>
          <p:cNvSpPr/>
          <p:nvPr/>
        </p:nvSpPr>
        <p:spPr>
          <a:xfrm>
            <a:off x="7599521" y="4338757"/>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Accessible Anytime, Anywhere:</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Information available on demand, enhancing flexibility.</a:t>
            </a:r>
            <a:endParaRPr lang="en-US" sz="1750" dirty="0"/>
          </a:p>
        </p:txBody>
      </p:sp>
      <p:sp>
        <p:nvSpPr>
          <p:cNvPr id="8" name="Text 6"/>
          <p:cNvSpPr/>
          <p:nvPr/>
        </p:nvSpPr>
        <p:spPr>
          <a:xfrm>
            <a:off x="7599521" y="5143857"/>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Efficient Resource Management:</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Optimizes the flow of information, minimizing delays.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750338"/>
            <a:ext cx="11897439"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Transforming Education Through Connectivity</a:t>
            </a:r>
            <a:endParaRPr lang="en-US" sz="4450" dirty="0"/>
          </a:p>
        </p:txBody>
      </p:sp>
      <p:sp>
        <p:nvSpPr>
          <p:cNvPr id="3" name="Shape 1"/>
          <p:cNvSpPr/>
          <p:nvPr/>
        </p:nvSpPr>
        <p:spPr>
          <a:xfrm>
            <a:off x="793790" y="2912745"/>
            <a:ext cx="4196358" cy="1669852"/>
          </a:xfrm>
          <a:prstGeom prst="roundRect">
            <a:avLst>
              <a:gd name="adj" fmla="val 32601"/>
            </a:avLst>
          </a:prstGeom>
          <a:solidFill>
            <a:srgbClr val="1B5F39"/>
          </a:solidFill>
          <a:ln/>
        </p:spPr>
      </p:sp>
      <p:sp>
        <p:nvSpPr>
          <p:cNvPr id="4" name="Text 2"/>
          <p:cNvSpPr/>
          <p:nvPr/>
        </p:nvSpPr>
        <p:spPr>
          <a:xfrm>
            <a:off x="1020604" y="313955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ice" pitchFamily="34" charset="0"/>
                <a:ea typeface="Alice" pitchFamily="34" charset="-122"/>
                <a:cs typeface="Alice" pitchFamily="34" charset="-120"/>
              </a:rPr>
              <a:t>Resource Sharing</a:t>
            </a:r>
            <a:endParaRPr lang="en-US" sz="2200" dirty="0"/>
          </a:p>
        </p:txBody>
      </p:sp>
      <p:sp>
        <p:nvSpPr>
          <p:cNvPr id="5" name="Text 3"/>
          <p:cNvSpPr/>
          <p:nvPr/>
        </p:nvSpPr>
        <p:spPr>
          <a:xfrm>
            <a:off x="1020604" y="3629978"/>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Lora" pitchFamily="34" charset="0"/>
                <a:ea typeface="Lora" pitchFamily="34" charset="-122"/>
                <a:cs typeface="Lora" pitchFamily="34" charset="-120"/>
              </a:rPr>
              <a:t>Quick dissemination of study materials, enhancing learning.</a:t>
            </a:r>
            <a:endParaRPr lang="en-US" sz="1750" dirty="0"/>
          </a:p>
        </p:txBody>
      </p:sp>
      <p:sp>
        <p:nvSpPr>
          <p:cNvPr id="6" name="Shape 4"/>
          <p:cNvSpPr/>
          <p:nvPr/>
        </p:nvSpPr>
        <p:spPr>
          <a:xfrm>
            <a:off x="5216962" y="2912745"/>
            <a:ext cx="4196358" cy="1669852"/>
          </a:xfrm>
          <a:prstGeom prst="roundRect">
            <a:avLst>
              <a:gd name="adj" fmla="val 32601"/>
            </a:avLst>
          </a:prstGeom>
          <a:solidFill>
            <a:srgbClr val="1B5F39"/>
          </a:solidFill>
          <a:ln/>
        </p:spPr>
      </p:sp>
      <p:sp>
        <p:nvSpPr>
          <p:cNvPr id="7" name="Text 5"/>
          <p:cNvSpPr/>
          <p:nvPr/>
        </p:nvSpPr>
        <p:spPr>
          <a:xfrm>
            <a:off x="5443776" y="313955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ice" pitchFamily="34" charset="0"/>
                <a:ea typeface="Alice" pitchFamily="34" charset="-122"/>
                <a:cs typeface="Alice" pitchFamily="34" charset="-120"/>
              </a:rPr>
              <a:t>Timely Updates</a:t>
            </a:r>
            <a:endParaRPr lang="en-US" sz="2200" dirty="0"/>
          </a:p>
        </p:txBody>
      </p:sp>
      <p:sp>
        <p:nvSpPr>
          <p:cNvPr id="8" name="Text 6"/>
          <p:cNvSpPr/>
          <p:nvPr/>
        </p:nvSpPr>
        <p:spPr>
          <a:xfrm>
            <a:off x="5443776" y="3629978"/>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Lora" pitchFamily="34" charset="0"/>
                <a:ea typeface="Lora" pitchFamily="34" charset="-122"/>
                <a:cs typeface="Lora" pitchFamily="34" charset="-120"/>
              </a:rPr>
              <a:t>Instant notifications for classes, exams, and academic changes.</a:t>
            </a:r>
            <a:endParaRPr lang="en-US" sz="1750" dirty="0"/>
          </a:p>
        </p:txBody>
      </p:sp>
      <p:sp>
        <p:nvSpPr>
          <p:cNvPr id="9" name="Shape 7"/>
          <p:cNvSpPr/>
          <p:nvPr/>
        </p:nvSpPr>
        <p:spPr>
          <a:xfrm>
            <a:off x="9640133" y="2912745"/>
            <a:ext cx="4196358" cy="1669852"/>
          </a:xfrm>
          <a:prstGeom prst="roundRect">
            <a:avLst>
              <a:gd name="adj" fmla="val 32601"/>
            </a:avLst>
          </a:prstGeom>
          <a:solidFill>
            <a:srgbClr val="1B5F39"/>
          </a:solidFill>
          <a:ln/>
        </p:spPr>
      </p:sp>
      <p:sp>
        <p:nvSpPr>
          <p:cNvPr id="10" name="Text 8"/>
          <p:cNvSpPr/>
          <p:nvPr/>
        </p:nvSpPr>
        <p:spPr>
          <a:xfrm>
            <a:off x="9866948" y="313955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ice" pitchFamily="34" charset="0"/>
                <a:ea typeface="Alice" pitchFamily="34" charset="-122"/>
                <a:cs typeface="Alice" pitchFamily="34" charset="-120"/>
              </a:rPr>
              <a:t>Project Coordination</a:t>
            </a:r>
            <a:endParaRPr lang="en-US" sz="2200" dirty="0"/>
          </a:p>
        </p:txBody>
      </p:sp>
      <p:sp>
        <p:nvSpPr>
          <p:cNvPr id="11" name="Text 9"/>
          <p:cNvSpPr/>
          <p:nvPr/>
        </p:nvSpPr>
        <p:spPr>
          <a:xfrm>
            <a:off x="9866948" y="3629978"/>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Lora" pitchFamily="34" charset="0"/>
                <a:ea typeface="Lora" pitchFamily="34" charset="-122"/>
                <a:cs typeface="Lora" pitchFamily="34" charset="-120"/>
              </a:rPr>
              <a:t>Facilitates seamless teamwork and collaborative efforts.</a:t>
            </a:r>
            <a:endParaRPr lang="en-US" sz="1750" dirty="0"/>
          </a:p>
        </p:txBody>
      </p:sp>
      <p:sp>
        <p:nvSpPr>
          <p:cNvPr id="12" name="Shape 10"/>
          <p:cNvSpPr/>
          <p:nvPr/>
        </p:nvSpPr>
        <p:spPr>
          <a:xfrm>
            <a:off x="793790" y="4809411"/>
            <a:ext cx="6407944" cy="1669852"/>
          </a:xfrm>
          <a:prstGeom prst="roundRect">
            <a:avLst>
              <a:gd name="adj" fmla="val 32601"/>
            </a:avLst>
          </a:prstGeom>
          <a:solidFill>
            <a:srgbClr val="1B5F39"/>
          </a:solidFill>
          <a:ln/>
        </p:spPr>
      </p:sp>
      <p:sp>
        <p:nvSpPr>
          <p:cNvPr id="13" name="Text 11"/>
          <p:cNvSpPr/>
          <p:nvPr/>
        </p:nvSpPr>
        <p:spPr>
          <a:xfrm>
            <a:off x="1020604" y="5036225"/>
            <a:ext cx="2886432"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ice" pitchFamily="34" charset="0"/>
                <a:ea typeface="Alice" pitchFamily="34" charset="-122"/>
                <a:cs typeface="Alice" pitchFamily="34" charset="-120"/>
              </a:rPr>
              <a:t>Collaborative Learning</a:t>
            </a:r>
            <a:endParaRPr lang="en-US" sz="2200" dirty="0"/>
          </a:p>
        </p:txBody>
      </p:sp>
      <p:sp>
        <p:nvSpPr>
          <p:cNvPr id="14" name="Text 12"/>
          <p:cNvSpPr/>
          <p:nvPr/>
        </p:nvSpPr>
        <p:spPr>
          <a:xfrm>
            <a:off x="1020604" y="5526643"/>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Lora" pitchFamily="34" charset="0"/>
                <a:ea typeface="Lora" pitchFamily="34" charset="-122"/>
                <a:cs typeface="Lora" pitchFamily="34" charset="-120"/>
              </a:rPr>
              <a:t>Encourages active participation and peer-to-peer support.</a:t>
            </a:r>
            <a:endParaRPr lang="en-US" sz="1750" dirty="0"/>
          </a:p>
        </p:txBody>
      </p:sp>
      <p:sp>
        <p:nvSpPr>
          <p:cNvPr id="15" name="Shape 13"/>
          <p:cNvSpPr/>
          <p:nvPr/>
        </p:nvSpPr>
        <p:spPr>
          <a:xfrm>
            <a:off x="7428548" y="4809411"/>
            <a:ext cx="6407944" cy="1669852"/>
          </a:xfrm>
          <a:prstGeom prst="roundRect">
            <a:avLst>
              <a:gd name="adj" fmla="val 32601"/>
            </a:avLst>
          </a:prstGeom>
          <a:solidFill>
            <a:srgbClr val="1B5F39"/>
          </a:solidFill>
          <a:ln/>
        </p:spPr>
      </p:sp>
      <p:sp>
        <p:nvSpPr>
          <p:cNvPr id="16" name="Text 14"/>
          <p:cNvSpPr/>
          <p:nvPr/>
        </p:nvSpPr>
        <p:spPr>
          <a:xfrm>
            <a:off x="7655362" y="5036225"/>
            <a:ext cx="3291721"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Alice" pitchFamily="34" charset="0"/>
                <a:ea typeface="Alice" pitchFamily="34" charset="-122"/>
                <a:cs typeface="Alice" pitchFamily="34" charset="-120"/>
              </a:rPr>
              <a:t>Clarity in Communication</a:t>
            </a:r>
            <a:endParaRPr lang="en-US" sz="2200" dirty="0"/>
          </a:p>
        </p:txBody>
      </p:sp>
      <p:sp>
        <p:nvSpPr>
          <p:cNvPr id="17" name="Text 15"/>
          <p:cNvSpPr/>
          <p:nvPr/>
        </p:nvSpPr>
        <p:spPr>
          <a:xfrm>
            <a:off x="7655362" y="5526643"/>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Lora" pitchFamily="34" charset="0"/>
                <a:ea typeface="Lora" pitchFamily="34" charset="-122"/>
                <a:cs typeface="Lora" pitchFamily="34" charset="-120"/>
              </a:rPr>
              <a:t>Minimizes misunderstandings and ensures accurate information flow.</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20986"/>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Potential Challenges</a:t>
            </a:r>
            <a:endParaRPr lang="en-US" sz="4450" dirty="0"/>
          </a:p>
        </p:txBody>
      </p:sp>
      <p:sp>
        <p:nvSpPr>
          <p:cNvPr id="3" name="Shape 1"/>
          <p:cNvSpPr/>
          <p:nvPr/>
        </p:nvSpPr>
        <p:spPr>
          <a:xfrm>
            <a:off x="793790" y="2723555"/>
            <a:ext cx="4196358" cy="2040493"/>
          </a:xfrm>
          <a:prstGeom prst="roundRect">
            <a:avLst>
              <a:gd name="adj" fmla="val 7170"/>
            </a:avLst>
          </a:prstGeom>
          <a:solidFill>
            <a:srgbClr val="FCFBF8"/>
          </a:solidFill>
          <a:ln/>
        </p:spPr>
      </p:sp>
      <p:sp>
        <p:nvSpPr>
          <p:cNvPr id="4" name="Shape 2"/>
          <p:cNvSpPr/>
          <p:nvPr/>
        </p:nvSpPr>
        <p:spPr>
          <a:xfrm>
            <a:off x="793790" y="2693075"/>
            <a:ext cx="4196358" cy="121920"/>
          </a:xfrm>
          <a:prstGeom prst="roundRect">
            <a:avLst>
              <a:gd name="adj" fmla="val 27907"/>
            </a:avLst>
          </a:prstGeom>
          <a:solidFill>
            <a:srgbClr val="1B5F39"/>
          </a:solidFill>
          <a:ln/>
        </p:spPr>
      </p:sp>
      <p:sp>
        <p:nvSpPr>
          <p:cNvPr id="5" name="Shape 3"/>
          <p:cNvSpPr/>
          <p:nvPr/>
        </p:nvSpPr>
        <p:spPr>
          <a:xfrm>
            <a:off x="2551688" y="2383393"/>
            <a:ext cx="680442" cy="680442"/>
          </a:xfrm>
          <a:prstGeom prst="roundRect">
            <a:avLst>
              <a:gd name="adj" fmla="val 134383"/>
            </a:avLst>
          </a:prstGeom>
          <a:solidFill>
            <a:srgbClr val="1B5F39"/>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55761" y="2587466"/>
            <a:ext cx="272177" cy="272177"/>
          </a:xfrm>
          <a:prstGeom prst="rect">
            <a:avLst/>
          </a:prstGeom>
        </p:spPr>
      </p:pic>
      <p:sp>
        <p:nvSpPr>
          <p:cNvPr id="7" name="Text 4"/>
          <p:cNvSpPr/>
          <p:nvPr/>
        </p:nvSpPr>
        <p:spPr>
          <a:xfrm>
            <a:off x="1051084" y="329053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Internet Dependency</a:t>
            </a:r>
            <a:endParaRPr lang="en-US" sz="2200" dirty="0"/>
          </a:p>
        </p:txBody>
      </p:sp>
      <p:sp>
        <p:nvSpPr>
          <p:cNvPr id="8" name="Text 5"/>
          <p:cNvSpPr/>
          <p:nvPr/>
        </p:nvSpPr>
        <p:spPr>
          <a:xfrm>
            <a:off x="1051084" y="3780949"/>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Requires stable connectivity for full functionality.</a:t>
            </a:r>
            <a:endParaRPr lang="en-US" sz="1750" dirty="0"/>
          </a:p>
        </p:txBody>
      </p:sp>
      <p:sp>
        <p:nvSpPr>
          <p:cNvPr id="9" name="Shape 6"/>
          <p:cNvSpPr/>
          <p:nvPr/>
        </p:nvSpPr>
        <p:spPr>
          <a:xfrm>
            <a:off x="5216962" y="2723555"/>
            <a:ext cx="4196358" cy="2040493"/>
          </a:xfrm>
          <a:prstGeom prst="roundRect">
            <a:avLst>
              <a:gd name="adj" fmla="val 7170"/>
            </a:avLst>
          </a:prstGeom>
          <a:solidFill>
            <a:srgbClr val="FCFBF8"/>
          </a:solidFill>
          <a:ln/>
        </p:spPr>
      </p:sp>
      <p:sp>
        <p:nvSpPr>
          <p:cNvPr id="10" name="Shape 7"/>
          <p:cNvSpPr/>
          <p:nvPr/>
        </p:nvSpPr>
        <p:spPr>
          <a:xfrm>
            <a:off x="5216962" y="2693075"/>
            <a:ext cx="4196358" cy="121920"/>
          </a:xfrm>
          <a:prstGeom prst="roundRect">
            <a:avLst>
              <a:gd name="adj" fmla="val 27907"/>
            </a:avLst>
          </a:prstGeom>
          <a:solidFill>
            <a:srgbClr val="1B5F39"/>
          </a:solidFill>
          <a:ln/>
        </p:spPr>
      </p:sp>
      <p:sp>
        <p:nvSpPr>
          <p:cNvPr id="11" name="Shape 8"/>
          <p:cNvSpPr/>
          <p:nvPr/>
        </p:nvSpPr>
        <p:spPr>
          <a:xfrm>
            <a:off x="6974860" y="2383393"/>
            <a:ext cx="680442" cy="680442"/>
          </a:xfrm>
          <a:prstGeom prst="roundRect">
            <a:avLst>
              <a:gd name="adj" fmla="val 134383"/>
            </a:avLst>
          </a:prstGeom>
          <a:solidFill>
            <a:srgbClr val="1B5F39"/>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8933" y="2587466"/>
            <a:ext cx="272177" cy="272177"/>
          </a:xfrm>
          <a:prstGeom prst="rect">
            <a:avLst/>
          </a:prstGeom>
        </p:spPr>
      </p:pic>
      <p:sp>
        <p:nvSpPr>
          <p:cNvPr id="13" name="Text 9"/>
          <p:cNvSpPr/>
          <p:nvPr/>
        </p:nvSpPr>
        <p:spPr>
          <a:xfrm>
            <a:off x="5474256" y="329053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Risk of Distraction</a:t>
            </a:r>
            <a:endParaRPr lang="en-US" sz="2200" dirty="0"/>
          </a:p>
        </p:txBody>
      </p:sp>
      <p:sp>
        <p:nvSpPr>
          <p:cNvPr id="14" name="Text 10"/>
          <p:cNvSpPr/>
          <p:nvPr/>
        </p:nvSpPr>
        <p:spPr>
          <a:xfrm>
            <a:off x="5474256" y="3780949"/>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Potential to divert focus from academic tasks.</a:t>
            </a:r>
            <a:endParaRPr lang="en-US" sz="1750" dirty="0"/>
          </a:p>
        </p:txBody>
      </p:sp>
      <p:sp>
        <p:nvSpPr>
          <p:cNvPr id="15" name="Shape 11"/>
          <p:cNvSpPr/>
          <p:nvPr/>
        </p:nvSpPr>
        <p:spPr>
          <a:xfrm>
            <a:off x="9640133" y="2723555"/>
            <a:ext cx="4196358" cy="2040493"/>
          </a:xfrm>
          <a:prstGeom prst="roundRect">
            <a:avLst>
              <a:gd name="adj" fmla="val 7170"/>
            </a:avLst>
          </a:prstGeom>
          <a:solidFill>
            <a:srgbClr val="FCFBF8"/>
          </a:solidFill>
          <a:ln/>
        </p:spPr>
      </p:sp>
      <p:sp>
        <p:nvSpPr>
          <p:cNvPr id="16" name="Shape 12"/>
          <p:cNvSpPr/>
          <p:nvPr/>
        </p:nvSpPr>
        <p:spPr>
          <a:xfrm>
            <a:off x="9640133" y="2693075"/>
            <a:ext cx="4196358" cy="121920"/>
          </a:xfrm>
          <a:prstGeom prst="roundRect">
            <a:avLst>
              <a:gd name="adj" fmla="val 27907"/>
            </a:avLst>
          </a:prstGeom>
          <a:solidFill>
            <a:srgbClr val="1B5F39"/>
          </a:solidFill>
          <a:ln/>
        </p:spPr>
      </p:sp>
      <p:sp>
        <p:nvSpPr>
          <p:cNvPr id="17" name="Shape 13"/>
          <p:cNvSpPr/>
          <p:nvPr/>
        </p:nvSpPr>
        <p:spPr>
          <a:xfrm>
            <a:off x="11398032" y="2383393"/>
            <a:ext cx="680442" cy="680442"/>
          </a:xfrm>
          <a:prstGeom prst="roundRect">
            <a:avLst>
              <a:gd name="adj" fmla="val 134383"/>
            </a:avLst>
          </a:prstGeom>
          <a:solidFill>
            <a:srgbClr val="1B5F39"/>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02105" y="2587466"/>
            <a:ext cx="272177" cy="272177"/>
          </a:xfrm>
          <a:prstGeom prst="rect">
            <a:avLst/>
          </a:prstGeom>
        </p:spPr>
      </p:pic>
      <p:sp>
        <p:nvSpPr>
          <p:cNvPr id="19" name="Text 14"/>
          <p:cNvSpPr/>
          <p:nvPr/>
        </p:nvSpPr>
        <p:spPr>
          <a:xfrm>
            <a:off x="9897427" y="329053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Privacy Concerns</a:t>
            </a:r>
            <a:endParaRPr lang="en-US" sz="2200" dirty="0"/>
          </a:p>
        </p:txBody>
      </p:sp>
      <p:sp>
        <p:nvSpPr>
          <p:cNvPr id="20" name="Text 15"/>
          <p:cNvSpPr/>
          <p:nvPr/>
        </p:nvSpPr>
        <p:spPr>
          <a:xfrm>
            <a:off x="9897427" y="3780949"/>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Ensuring data security and user privacy is paramount.</a:t>
            </a:r>
            <a:endParaRPr lang="en-US" sz="1750" dirty="0"/>
          </a:p>
        </p:txBody>
      </p:sp>
      <p:sp>
        <p:nvSpPr>
          <p:cNvPr id="21" name="Shape 16"/>
          <p:cNvSpPr/>
          <p:nvPr/>
        </p:nvSpPr>
        <p:spPr>
          <a:xfrm>
            <a:off x="793790" y="5331023"/>
            <a:ext cx="6407944" cy="1677591"/>
          </a:xfrm>
          <a:prstGeom prst="roundRect">
            <a:avLst>
              <a:gd name="adj" fmla="val 8721"/>
            </a:avLst>
          </a:prstGeom>
          <a:solidFill>
            <a:srgbClr val="FCFBF8"/>
          </a:solidFill>
          <a:ln/>
        </p:spPr>
      </p:sp>
      <p:sp>
        <p:nvSpPr>
          <p:cNvPr id="22" name="Shape 17"/>
          <p:cNvSpPr/>
          <p:nvPr/>
        </p:nvSpPr>
        <p:spPr>
          <a:xfrm>
            <a:off x="793790" y="5300543"/>
            <a:ext cx="6407944" cy="121920"/>
          </a:xfrm>
          <a:prstGeom prst="roundRect">
            <a:avLst>
              <a:gd name="adj" fmla="val 27907"/>
            </a:avLst>
          </a:prstGeom>
          <a:solidFill>
            <a:srgbClr val="1B5F39"/>
          </a:solidFill>
          <a:ln/>
        </p:spPr>
      </p:sp>
      <p:sp>
        <p:nvSpPr>
          <p:cNvPr id="23" name="Shape 18"/>
          <p:cNvSpPr/>
          <p:nvPr/>
        </p:nvSpPr>
        <p:spPr>
          <a:xfrm>
            <a:off x="3657540" y="4990862"/>
            <a:ext cx="680442" cy="680442"/>
          </a:xfrm>
          <a:prstGeom prst="roundRect">
            <a:avLst>
              <a:gd name="adj" fmla="val 134383"/>
            </a:avLst>
          </a:prstGeom>
          <a:solidFill>
            <a:srgbClr val="1B5F39"/>
          </a:solidFill>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61614" y="5194935"/>
            <a:ext cx="272177" cy="272177"/>
          </a:xfrm>
          <a:prstGeom prst="rect">
            <a:avLst/>
          </a:prstGeom>
        </p:spPr>
      </p:pic>
      <p:sp>
        <p:nvSpPr>
          <p:cNvPr id="25" name="Text 19"/>
          <p:cNvSpPr/>
          <p:nvPr/>
        </p:nvSpPr>
        <p:spPr>
          <a:xfrm>
            <a:off x="1051084" y="589799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Reduced Face-to-Face</a:t>
            </a:r>
            <a:endParaRPr lang="en-US" sz="2200" dirty="0"/>
          </a:p>
        </p:txBody>
      </p:sp>
      <p:sp>
        <p:nvSpPr>
          <p:cNvPr id="26" name="Text 20"/>
          <p:cNvSpPr/>
          <p:nvPr/>
        </p:nvSpPr>
        <p:spPr>
          <a:xfrm>
            <a:off x="1051084" y="6388417"/>
            <a:ext cx="5893356"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May impact direct personal interaction among users.</a:t>
            </a:r>
            <a:endParaRPr lang="en-US" sz="1750" dirty="0"/>
          </a:p>
        </p:txBody>
      </p:sp>
      <p:sp>
        <p:nvSpPr>
          <p:cNvPr id="27" name="Shape 21"/>
          <p:cNvSpPr/>
          <p:nvPr/>
        </p:nvSpPr>
        <p:spPr>
          <a:xfrm>
            <a:off x="7428548" y="5331023"/>
            <a:ext cx="6407944" cy="1677591"/>
          </a:xfrm>
          <a:prstGeom prst="roundRect">
            <a:avLst>
              <a:gd name="adj" fmla="val 8721"/>
            </a:avLst>
          </a:prstGeom>
          <a:solidFill>
            <a:srgbClr val="FCFBF8"/>
          </a:solidFill>
          <a:ln/>
        </p:spPr>
      </p:sp>
      <p:sp>
        <p:nvSpPr>
          <p:cNvPr id="28" name="Shape 22"/>
          <p:cNvSpPr/>
          <p:nvPr/>
        </p:nvSpPr>
        <p:spPr>
          <a:xfrm>
            <a:off x="7428548" y="5300543"/>
            <a:ext cx="6407944" cy="121920"/>
          </a:xfrm>
          <a:prstGeom prst="roundRect">
            <a:avLst>
              <a:gd name="adj" fmla="val 27907"/>
            </a:avLst>
          </a:prstGeom>
          <a:solidFill>
            <a:srgbClr val="1B5F39"/>
          </a:solidFill>
          <a:ln/>
        </p:spPr>
      </p:sp>
      <p:sp>
        <p:nvSpPr>
          <p:cNvPr id="29" name="Shape 23"/>
          <p:cNvSpPr/>
          <p:nvPr/>
        </p:nvSpPr>
        <p:spPr>
          <a:xfrm>
            <a:off x="10292298" y="4990862"/>
            <a:ext cx="680442" cy="680442"/>
          </a:xfrm>
          <a:prstGeom prst="roundRect">
            <a:avLst>
              <a:gd name="adj" fmla="val 134383"/>
            </a:avLst>
          </a:prstGeom>
          <a:solidFill>
            <a:srgbClr val="1B5F39"/>
          </a:solidFill>
          <a:ln/>
        </p:spPr>
      </p:sp>
      <p:pic>
        <p:nvPicPr>
          <p:cNvPr id="3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96371" y="5194935"/>
            <a:ext cx="272177" cy="272177"/>
          </a:xfrm>
          <a:prstGeom prst="rect">
            <a:avLst/>
          </a:prstGeom>
        </p:spPr>
      </p:pic>
      <p:sp>
        <p:nvSpPr>
          <p:cNvPr id="31" name="Text 24"/>
          <p:cNvSpPr/>
          <p:nvPr/>
        </p:nvSpPr>
        <p:spPr>
          <a:xfrm>
            <a:off x="7685842" y="589799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Technical Glitches</a:t>
            </a:r>
            <a:endParaRPr lang="en-US" sz="2200" dirty="0"/>
          </a:p>
        </p:txBody>
      </p:sp>
      <p:sp>
        <p:nvSpPr>
          <p:cNvPr id="32" name="Text 25"/>
          <p:cNvSpPr/>
          <p:nvPr/>
        </p:nvSpPr>
        <p:spPr>
          <a:xfrm>
            <a:off x="7685842" y="6388417"/>
            <a:ext cx="5893356"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Possibility of app crashes or operational issues.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5325" y="546259"/>
            <a:ext cx="8039695" cy="620911"/>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Evolving the Educational Ecosystem</a:t>
            </a:r>
            <a:endParaRPr lang="en-US" sz="3900" dirty="0"/>
          </a:p>
        </p:txBody>
      </p:sp>
      <p:sp>
        <p:nvSpPr>
          <p:cNvPr id="3" name="Shape 1"/>
          <p:cNvSpPr/>
          <p:nvPr/>
        </p:nvSpPr>
        <p:spPr>
          <a:xfrm>
            <a:off x="695325" y="1564481"/>
            <a:ext cx="1323975" cy="1144667"/>
          </a:xfrm>
          <a:prstGeom prst="roundRect">
            <a:avLst>
              <a:gd name="adj" fmla="val 2604"/>
            </a:avLst>
          </a:prstGeom>
          <a:solidFill>
            <a:srgbClr val="1B5F39"/>
          </a:solidFill>
          <a:ln/>
        </p:spPr>
      </p:sp>
      <p:sp>
        <p:nvSpPr>
          <p:cNvPr id="4" name="Text 2"/>
          <p:cNvSpPr/>
          <p:nvPr/>
        </p:nvSpPr>
        <p:spPr>
          <a:xfrm>
            <a:off x="1217652" y="1962150"/>
            <a:ext cx="279321" cy="349210"/>
          </a:xfrm>
          <a:prstGeom prst="rect">
            <a:avLst/>
          </a:prstGeom>
          <a:noFill/>
          <a:ln/>
        </p:spPr>
        <p:txBody>
          <a:bodyPr wrap="none" lIns="0" tIns="0" rIns="0" bIns="0" rtlCol="0" anchor="t"/>
          <a:lstStyle/>
          <a:p>
            <a:pPr algn="ctr" indent="0" marL="0">
              <a:lnSpc>
                <a:spcPts val="3500"/>
              </a:lnSpc>
              <a:buNone/>
            </a:pPr>
            <a:r>
              <a:rPr lang="en-US" sz="2150" dirty="0">
                <a:solidFill>
                  <a:srgbClr val="FFFFFF"/>
                </a:solidFill>
                <a:latin typeface="Alice" pitchFamily="34" charset="0"/>
                <a:ea typeface="Alice" pitchFamily="34" charset="-122"/>
                <a:cs typeface="Alice" pitchFamily="34" charset="-120"/>
              </a:rPr>
              <a:t>1</a:t>
            </a:r>
            <a:endParaRPr lang="en-US" sz="2150" dirty="0"/>
          </a:p>
        </p:txBody>
      </p:sp>
      <p:sp>
        <p:nvSpPr>
          <p:cNvPr id="5" name="Text 3"/>
          <p:cNvSpPr/>
          <p:nvPr/>
        </p:nvSpPr>
        <p:spPr>
          <a:xfrm>
            <a:off x="2217896" y="1763078"/>
            <a:ext cx="2690812" cy="310396"/>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Alice" pitchFamily="34" charset="0"/>
                <a:ea typeface="Alice" pitchFamily="34" charset="-122"/>
                <a:cs typeface="Alice" pitchFamily="34" charset="-120"/>
              </a:rPr>
              <a:t>Online Class Integration</a:t>
            </a:r>
            <a:endParaRPr lang="en-US" sz="1950" dirty="0"/>
          </a:p>
        </p:txBody>
      </p:sp>
      <p:sp>
        <p:nvSpPr>
          <p:cNvPr id="6" name="Text 4"/>
          <p:cNvSpPr/>
          <p:nvPr/>
        </p:nvSpPr>
        <p:spPr>
          <a:xfrm>
            <a:off x="2217896" y="2192655"/>
            <a:ext cx="5343882" cy="317897"/>
          </a:xfrm>
          <a:prstGeom prst="rect">
            <a:avLst/>
          </a:prstGeom>
          <a:noFill/>
          <a:ln/>
        </p:spPr>
        <p:txBody>
          <a:bodyPr wrap="none" lIns="0" tIns="0" rIns="0" bIns="0" rtlCol="0" anchor="t"/>
          <a:lstStyle/>
          <a:p>
            <a:pPr algn="l" indent="0" marL="0">
              <a:lnSpc>
                <a:spcPts val="2500"/>
              </a:lnSpc>
              <a:buNone/>
            </a:pPr>
            <a:r>
              <a:rPr lang="en-US" sz="1550" dirty="0">
                <a:solidFill>
                  <a:srgbClr val="FFFFFF"/>
                </a:solidFill>
                <a:latin typeface="Lora" pitchFamily="34" charset="0"/>
                <a:ea typeface="Lora" pitchFamily="34" charset="-122"/>
                <a:cs typeface="Lora" pitchFamily="34" charset="-120"/>
              </a:rPr>
              <a:t>Seamless connectivity with virtual learning environments.</a:t>
            </a:r>
            <a:endParaRPr lang="en-US" sz="1550" dirty="0"/>
          </a:p>
        </p:txBody>
      </p:sp>
      <p:sp>
        <p:nvSpPr>
          <p:cNvPr id="7" name="Shape 5"/>
          <p:cNvSpPr/>
          <p:nvPr/>
        </p:nvSpPr>
        <p:spPr>
          <a:xfrm>
            <a:off x="2118598" y="2699623"/>
            <a:ext cx="11717179" cy="11430"/>
          </a:xfrm>
          <a:prstGeom prst="roundRect">
            <a:avLst>
              <a:gd name="adj" fmla="val 260737"/>
            </a:avLst>
          </a:prstGeom>
          <a:solidFill>
            <a:srgbClr val="1B5F39"/>
          </a:solidFill>
          <a:ln/>
        </p:spPr>
      </p:sp>
      <p:sp>
        <p:nvSpPr>
          <p:cNvPr id="8" name="Shape 6"/>
          <p:cNvSpPr/>
          <p:nvPr/>
        </p:nvSpPr>
        <p:spPr>
          <a:xfrm>
            <a:off x="695325" y="2808446"/>
            <a:ext cx="2647950" cy="1144667"/>
          </a:xfrm>
          <a:prstGeom prst="roundRect">
            <a:avLst>
              <a:gd name="adj" fmla="val 2604"/>
            </a:avLst>
          </a:prstGeom>
          <a:solidFill>
            <a:srgbClr val="1B5F39"/>
          </a:solidFill>
          <a:ln/>
        </p:spPr>
      </p:sp>
      <p:sp>
        <p:nvSpPr>
          <p:cNvPr id="9" name="Text 7"/>
          <p:cNvSpPr/>
          <p:nvPr/>
        </p:nvSpPr>
        <p:spPr>
          <a:xfrm>
            <a:off x="1879640" y="3206115"/>
            <a:ext cx="279321" cy="349210"/>
          </a:xfrm>
          <a:prstGeom prst="rect">
            <a:avLst/>
          </a:prstGeom>
          <a:noFill/>
          <a:ln/>
        </p:spPr>
        <p:txBody>
          <a:bodyPr wrap="none" lIns="0" tIns="0" rIns="0" bIns="0" rtlCol="0" anchor="t"/>
          <a:lstStyle/>
          <a:p>
            <a:pPr algn="ctr" indent="0" marL="0">
              <a:lnSpc>
                <a:spcPts val="3500"/>
              </a:lnSpc>
              <a:buNone/>
            </a:pPr>
            <a:r>
              <a:rPr lang="en-US" sz="2150" dirty="0">
                <a:solidFill>
                  <a:srgbClr val="FFFFFF"/>
                </a:solidFill>
                <a:latin typeface="Alice" pitchFamily="34" charset="0"/>
                <a:ea typeface="Alice" pitchFamily="34" charset="-122"/>
                <a:cs typeface="Alice" pitchFamily="34" charset="-120"/>
              </a:rPr>
              <a:t>2</a:t>
            </a:r>
            <a:endParaRPr lang="en-US" sz="2150" dirty="0"/>
          </a:p>
        </p:txBody>
      </p:sp>
      <p:sp>
        <p:nvSpPr>
          <p:cNvPr id="10" name="Text 8"/>
          <p:cNvSpPr/>
          <p:nvPr/>
        </p:nvSpPr>
        <p:spPr>
          <a:xfrm>
            <a:off x="3541871" y="3007043"/>
            <a:ext cx="2483406" cy="310396"/>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Alice" pitchFamily="34" charset="0"/>
                <a:ea typeface="Alice" pitchFamily="34" charset="-122"/>
                <a:cs typeface="Alice" pitchFamily="34" charset="-120"/>
              </a:rPr>
              <a:t>AI-Driven Support</a:t>
            </a:r>
            <a:endParaRPr lang="en-US" sz="1950" dirty="0"/>
          </a:p>
        </p:txBody>
      </p:sp>
      <p:sp>
        <p:nvSpPr>
          <p:cNvPr id="11" name="Text 9"/>
          <p:cNvSpPr/>
          <p:nvPr/>
        </p:nvSpPr>
        <p:spPr>
          <a:xfrm>
            <a:off x="3541871" y="3436620"/>
            <a:ext cx="5118259" cy="317897"/>
          </a:xfrm>
          <a:prstGeom prst="rect">
            <a:avLst/>
          </a:prstGeom>
          <a:noFill/>
          <a:ln/>
        </p:spPr>
        <p:txBody>
          <a:bodyPr wrap="none" lIns="0" tIns="0" rIns="0" bIns="0" rtlCol="0" anchor="t"/>
          <a:lstStyle/>
          <a:p>
            <a:pPr algn="l" indent="0" marL="0">
              <a:lnSpc>
                <a:spcPts val="2500"/>
              </a:lnSpc>
              <a:buNone/>
            </a:pPr>
            <a:r>
              <a:rPr lang="en-US" sz="1550" dirty="0">
                <a:solidFill>
                  <a:srgbClr val="FFFFFF"/>
                </a:solidFill>
                <a:latin typeface="Lora" pitchFamily="34" charset="0"/>
                <a:ea typeface="Lora" pitchFamily="34" charset="-122"/>
                <a:cs typeface="Lora" pitchFamily="34" charset="-120"/>
              </a:rPr>
              <a:t>Intelligent chatbots for immediate assistance and FAQs.</a:t>
            </a:r>
            <a:endParaRPr lang="en-US" sz="1550" dirty="0"/>
          </a:p>
        </p:txBody>
      </p:sp>
      <p:sp>
        <p:nvSpPr>
          <p:cNvPr id="12" name="Shape 10"/>
          <p:cNvSpPr/>
          <p:nvPr/>
        </p:nvSpPr>
        <p:spPr>
          <a:xfrm>
            <a:off x="3442573" y="3943588"/>
            <a:ext cx="10393204" cy="11430"/>
          </a:xfrm>
          <a:prstGeom prst="roundRect">
            <a:avLst>
              <a:gd name="adj" fmla="val 260737"/>
            </a:avLst>
          </a:prstGeom>
          <a:solidFill>
            <a:srgbClr val="1B5F39"/>
          </a:solidFill>
          <a:ln/>
        </p:spPr>
      </p:sp>
      <p:sp>
        <p:nvSpPr>
          <p:cNvPr id="13" name="Shape 11"/>
          <p:cNvSpPr/>
          <p:nvPr/>
        </p:nvSpPr>
        <p:spPr>
          <a:xfrm>
            <a:off x="695325" y="4052411"/>
            <a:ext cx="3971925" cy="1144667"/>
          </a:xfrm>
          <a:prstGeom prst="roundRect">
            <a:avLst>
              <a:gd name="adj" fmla="val 2604"/>
            </a:avLst>
          </a:prstGeom>
          <a:solidFill>
            <a:srgbClr val="1B5F39"/>
          </a:solidFill>
          <a:ln/>
        </p:spPr>
      </p:sp>
      <p:sp>
        <p:nvSpPr>
          <p:cNvPr id="14" name="Text 12"/>
          <p:cNvSpPr/>
          <p:nvPr/>
        </p:nvSpPr>
        <p:spPr>
          <a:xfrm>
            <a:off x="2541627" y="4450080"/>
            <a:ext cx="279321" cy="349210"/>
          </a:xfrm>
          <a:prstGeom prst="rect">
            <a:avLst/>
          </a:prstGeom>
          <a:noFill/>
          <a:ln/>
        </p:spPr>
        <p:txBody>
          <a:bodyPr wrap="none" lIns="0" tIns="0" rIns="0" bIns="0" rtlCol="0" anchor="t"/>
          <a:lstStyle/>
          <a:p>
            <a:pPr algn="ctr" indent="0" marL="0">
              <a:lnSpc>
                <a:spcPts val="3500"/>
              </a:lnSpc>
              <a:buNone/>
            </a:pPr>
            <a:r>
              <a:rPr lang="en-US" sz="2150" dirty="0">
                <a:solidFill>
                  <a:srgbClr val="FFFFFF"/>
                </a:solidFill>
                <a:latin typeface="Alice" pitchFamily="34" charset="0"/>
                <a:ea typeface="Alice" pitchFamily="34" charset="-122"/>
                <a:cs typeface="Alice" pitchFamily="34" charset="-120"/>
              </a:rPr>
              <a:t>3</a:t>
            </a:r>
            <a:endParaRPr lang="en-US" sz="2150" dirty="0"/>
          </a:p>
        </p:txBody>
      </p:sp>
      <p:sp>
        <p:nvSpPr>
          <p:cNvPr id="15" name="Text 13"/>
          <p:cNvSpPr/>
          <p:nvPr/>
        </p:nvSpPr>
        <p:spPr>
          <a:xfrm>
            <a:off x="4865846" y="4251008"/>
            <a:ext cx="2483406" cy="310396"/>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Alice" pitchFamily="34" charset="0"/>
                <a:ea typeface="Alice" pitchFamily="34" charset="-122"/>
                <a:cs typeface="Alice" pitchFamily="34" charset="-120"/>
              </a:rPr>
              <a:t>Academic Tracking</a:t>
            </a:r>
            <a:endParaRPr lang="en-US" sz="1950" dirty="0"/>
          </a:p>
        </p:txBody>
      </p:sp>
      <p:sp>
        <p:nvSpPr>
          <p:cNvPr id="16" name="Text 14"/>
          <p:cNvSpPr/>
          <p:nvPr/>
        </p:nvSpPr>
        <p:spPr>
          <a:xfrm>
            <a:off x="4865846" y="4680585"/>
            <a:ext cx="4861679" cy="317897"/>
          </a:xfrm>
          <a:prstGeom prst="rect">
            <a:avLst/>
          </a:prstGeom>
          <a:noFill/>
          <a:ln/>
        </p:spPr>
        <p:txBody>
          <a:bodyPr wrap="none" lIns="0" tIns="0" rIns="0" bIns="0" rtlCol="0" anchor="t"/>
          <a:lstStyle/>
          <a:p>
            <a:pPr algn="l" indent="0" marL="0">
              <a:lnSpc>
                <a:spcPts val="2500"/>
              </a:lnSpc>
              <a:buNone/>
            </a:pPr>
            <a:r>
              <a:rPr lang="en-US" sz="1550" dirty="0">
                <a:solidFill>
                  <a:srgbClr val="FFFFFF"/>
                </a:solidFill>
                <a:latin typeface="Lora" pitchFamily="34" charset="0"/>
                <a:ea typeface="Lora" pitchFamily="34" charset="-122"/>
                <a:cs typeface="Lora" pitchFamily="34" charset="-120"/>
              </a:rPr>
              <a:t>Monitoring attendance and assignment submissions.</a:t>
            </a:r>
            <a:endParaRPr lang="en-US" sz="1550" dirty="0"/>
          </a:p>
        </p:txBody>
      </p:sp>
      <p:sp>
        <p:nvSpPr>
          <p:cNvPr id="17" name="Shape 15"/>
          <p:cNvSpPr/>
          <p:nvPr/>
        </p:nvSpPr>
        <p:spPr>
          <a:xfrm>
            <a:off x="4766548" y="5187553"/>
            <a:ext cx="9069229" cy="11430"/>
          </a:xfrm>
          <a:prstGeom prst="roundRect">
            <a:avLst>
              <a:gd name="adj" fmla="val 260737"/>
            </a:avLst>
          </a:prstGeom>
          <a:solidFill>
            <a:srgbClr val="1B5F39"/>
          </a:solidFill>
          <a:ln/>
        </p:spPr>
      </p:sp>
      <p:sp>
        <p:nvSpPr>
          <p:cNvPr id="18" name="Shape 16"/>
          <p:cNvSpPr/>
          <p:nvPr/>
        </p:nvSpPr>
        <p:spPr>
          <a:xfrm>
            <a:off x="695325" y="5296376"/>
            <a:ext cx="5295900" cy="1144667"/>
          </a:xfrm>
          <a:prstGeom prst="roundRect">
            <a:avLst>
              <a:gd name="adj" fmla="val 2604"/>
            </a:avLst>
          </a:prstGeom>
          <a:solidFill>
            <a:srgbClr val="1B5F39"/>
          </a:solidFill>
          <a:ln/>
        </p:spPr>
      </p:sp>
      <p:sp>
        <p:nvSpPr>
          <p:cNvPr id="19" name="Text 17"/>
          <p:cNvSpPr/>
          <p:nvPr/>
        </p:nvSpPr>
        <p:spPr>
          <a:xfrm>
            <a:off x="3203615" y="5694045"/>
            <a:ext cx="279321" cy="349210"/>
          </a:xfrm>
          <a:prstGeom prst="rect">
            <a:avLst/>
          </a:prstGeom>
          <a:noFill/>
          <a:ln/>
        </p:spPr>
        <p:txBody>
          <a:bodyPr wrap="none" lIns="0" tIns="0" rIns="0" bIns="0" rtlCol="0" anchor="t"/>
          <a:lstStyle/>
          <a:p>
            <a:pPr algn="ctr" indent="0" marL="0">
              <a:lnSpc>
                <a:spcPts val="3500"/>
              </a:lnSpc>
              <a:buNone/>
            </a:pPr>
            <a:r>
              <a:rPr lang="en-US" sz="2150" dirty="0">
                <a:solidFill>
                  <a:srgbClr val="FFFFFF"/>
                </a:solidFill>
                <a:latin typeface="Alice" pitchFamily="34" charset="0"/>
                <a:ea typeface="Alice" pitchFamily="34" charset="-122"/>
                <a:cs typeface="Alice" pitchFamily="34" charset="-120"/>
              </a:rPr>
              <a:t>4</a:t>
            </a:r>
            <a:endParaRPr lang="en-US" sz="2150" dirty="0"/>
          </a:p>
        </p:txBody>
      </p:sp>
      <p:sp>
        <p:nvSpPr>
          <p:cNvPr id="20" name="Text 18"/>
          <p:cNvSpPr/>
          <p:nvPr/>
        </p:nvSpPr>
        <p:spPr>
          <a:xfrm>
            <a:off x="6189821" y="5494972"/>
            <a:ext cx="2483406" cy="310396"/>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Alice" pitchFamily="34" charset="0"/>
                <a:ea typeface="Alice" pitchFamily="34" charset="-122"/>
                <a:cs typeface="Alice" pitchFamily="34" charset="-120"/>
              </a:rPr>
              <a:t>Enhanced Security</a:t>
            </a:r>
            <a:endParaRPr lang="en-US" sz="1950" dirty="0"/>
          </a:p>
        </p:txBody>
      </p:sp>
      <p:sp>
        <p:nvSpPr>
          <p:cNvPr id="21" name="Text 19"/>
          <p:cNvSpPr/>
          <p:nvPr/>
        </p:nvSpPr>
        <p:spPr>
          <a:xfrm>
            <a:off x="6189821" y="5924550"/>
            <a:ext cx="4624745" cy="317897"/>
          </a:xfrm>
          <a:prstGeom prst="rect">
            <a:avLst/>
          </a:prstGeom>
          <a:noFill/>
          <a:ln/>
        </p:spPr>
        <p:txBody>
          <a:bodyPr wrap="none" lIns="0" tIns="0" rIns="0" bIns="0" rtlCol="0" anchor="t"/>
          <a:lstStyle/>
          <a:p>
            <a:pPr algn="l" indent="0" marL="0">
              <a:lnSpc>
                <a:spcPts val="2500"/>
              </a:lnSpc>
              <a:buNone/>
            </a:pPr>
            <a:r>
              <a:rPr lang="en-US" sz="1550" dirty="0">
                <a:solidFill>
                  <a:srgbClr val="FFFFFF"/>
                </a:solidFill>
                <a:latin typeface="Lora" pitchFamily="34" charset="0"/>
                <a:ea typeface="Lora" pitchFamily="34" charset="-122"/>
                <a:cs typeface="Lora" pitchFamily="34" charset="-120"/>
              </a:rPr>
              <a:t>Robust measures to protect user data and privacy.</a:t>
            </a:r>
            <a:endParaRPr lang="en-US" sz="1550" dirty="0"/>
          </a:p>
        </p:txBody>
      </p:sp>
      <p:sp>
        <p:nvSpPr>
          <p:cNvPr id="22" name="Shape 20"/>
          <p:cNvSpPr/>
          <p:nvPr/>
        </p:nvSpPr>
        <p:spPr>
          <a:xfrm>
            <a:off x="6090523" y="6431518"/>
            <a:ext cx="7745254" cy="11430"/>
          </a:xfrm>
          <a:prstGeom prst="roundRect">
            <a:avLst>
              <a:gd name="adj" fmla="val 260737"/>
            </a:avLst>
          </a:prstGeom>
          <a:solidFill>
            <a:srgbClr val="1B5F39"/>
          </a:solidFill>
          <a:ln/>
        </p:spPr>
      </p:sp>
      <p:sp>
        <p:nvSpPr>
          <p:cNvPr id="23" name="Shape 21"/>
          <p:cNvSpPr/>
          <p:nvPr/>
        </p:nvSpPr>
        <p:spPr>
          <a:xfrm>
            <a:off x="695325" y="6540341"/>
            <a:ext cx="6619875" cy="1144667"/>
          </a:xfrm>
          <a:prstGeom prst="roundRect">
            <a:avLst>
              <a:gd name="adj" fmla="val 2604"/>
            </a:avLst>
          </a:prstGeom>
          <a:solidFill>
            <a:srgbClr val="1B5F39"/>
          </a:solidFill>
          <a:ln/>
        </p:spPr>
      </p:sp>
      <p:sp>
        <p:nvSpPr>
          <p:cNvPr id="24" name="Text 22"/>
          <p:cNvSpPr/>
          <p:nvPr/>
        </p:nvSpPr>
        <p:spPr>
          <a:xfrm>
            <a:off x="3865602" y="6938010"/>
            <a:ext cx="279321" cy="349210"/>
          </a:xfrm>
          <a:prstGeom prst="rect">
            <a:avLst/>
          </a:prstGeom>
          <a:noFill/>
          <a:ln/>
        </p:spPr>
        <p:txBody>
          <a:bodyPr wrap="none" lIns="0" tIns="0" rIns="0" bIns="0" rtlCol="0" anchor="t"/>
          <a:lstStyle/>
          <a:p>
            <a:pPr algn="ctr" indent="0" marL="0">
              <a:lnSpc>
                <a:spcPts val="3500"/>
              </a:lnSpc>
              <a:buNone/>
            </a:pPr>
            <a:r>
              <a:rPr lang="en-US" sz="2150" dirty="0">
                <a:solidFill>
                  <a:srgbClr val="FFFFFF"/>
                </a:solidFill>
                <a:latin typeface="Alice" pitchFamily="34" charset="0"/>
                <a:ea typeface="Alice" pitchFamily="34" charset="-122"/>
                <a:cs typeface="Alice" pitchFamily="34" charset="-120"/>
              </a:rPr>
              <a:t>5</a:t>
            </a:r>
            <a:endParaRPr lang="en-US" sz="2150" dirty="0"/>
          </a:p>
        </p:txBody>
      </p:sp>
      <p:sp>
        <p:nvSpPr>
          <p:cNvPr id="25" name="Text 23"/>
          <p:cNvSpPr/>
          <p:nvPr/>
        </p:nvSpPr>
        <p:spPr>
          <a:xfrm>
            <a:off x="7513796" y="6738938"/>
            <a:ext cx="2483406" cy="310396"/>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Alice" pitchFamily="34" charset="0"/>
                <a:ea typeface="Alice" pitchFamily="34" charset="-122"/>
                <a:cs typeface="Alice" pitchFamily="34" charset="-120"/>
              </a:rPr>
              <a:t>CMS Integration</a:t>
            </a:r>
            <a:endParaRPr lang="en-US" sz="1950" dirty="0"/>
          </a:p>
        </p:txBody>
      </p:sp>
      <p:sp>
        <p:nvSpPr>
          <p:cNvPr id="26" name="Text 24"/>
          <p:cNvSpPr/>
          <p:nvPr/>
        </p:nvSpPr>
        <p:spPr>
          <a:xfrm>
            <a:off x="7513796" y="7168515"/>
            <a:ext cx="5242203" cy="317897"/>
          </a:xfrm>
          <a:prstGeom prst="rect">
            <a:avLst/>
          </a:prstGeom>
          <a:noFill/>
          <a:ln/>
        </p:spPr>
        <p:txBody>
          <a:bodyPr wrap="none" lIns="0" tIns="0" rIns="0" bIns="0" rtlCol="0" anchor="t"/>
          <a:lstStyle/>
          <a:p>
            <a:pPr algn="l" indent="0" marL="0">
              <a:lnSpc>
                <a:spcPts val="2500"/>
              </a:lnSpc>
              <a:buNone/>
            </a:pPr>
            <a:r>
              <a:rPr lang="en-US" sz="1550" dirty="0">
                <a:solidFill>
                  <a:srgbClr val="FFFFFF"/>
                </a:solidFill>
                <a:latin typeface="Lora" pitchFamily="34" charset="0"/>
                <a:ea typeface="Lora" pitchFamily="34" charset="-122"/>
                <a:cs typeface="Lora" pitchFamily="34" charset="-120"/>
              </a:rPr>
              <a:t>Harmonizing with existing college management systems.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734032"/>
            <a:ext cx="12119729"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A Modern Approach to Campus Communication</a:t>
            </a:r>
            <a:endParaRPr lang="en-US" sz="4450" dirty="0"/>
          </a:p>
        </p:txBody>
      </p:sp>
      <p:sp>
        <p:nvSpPr>
          <p:cNvPr id="3" name="Text 1"/>
          <p:cNvSpPr/>
          <p:nvPr/>
        </p:nvSpPr>
        <p:spPr>
          <a:xfrm>
            <a:off x="1133951" y="4151590"/>
            <a:ext cx="12702659"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College Messaging Apps significantly enhance communication efficiency, benefiting students, faculty, and administration alike. When utilized thoughtfully and responsibly, their advantages far outweigh potential drawbacks, making them an indispensable tool for contemporary education.</a:t>
            </a:r>
            <a:endParaRPr lang="en-US" sz="1750" dirty="0"/>
          </a:p>
        </p:txBody>
      </p:sp>
      <p:sp>
        <p:nvSpPr>
          <p:cNvPr id="4" name="Shape 2"/>
          <p:cNvSpPr/>
          <p:nvPr/>
        </p:nvSpPr>
        <p:spPr>
          <a:xfrm>
            <a:off x="793790" y="3896439"/>
            <a:ext cx="30480" cy="1599009"/>
          </a:xfrm>
          <a:prstGeom prst="rect">
            <a:avLst/>
          </a:prstGeom>
          <a:solidFill>
            <a:srgbClr val="1B5F39"/>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2025-12-27T05:02:04Z</dcterms:created>
  <dcterms:modified xsi:type="dcterms:W3CDTF">2025-12-27T05:02:04Z</dcterms:modified>
</cp:coreProperties>
</file>